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2011680" cy="6400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515600" cy="1463040"/>
          </a:xfrm>
          <a:prstGeom prst="rect">
            <a:avLst/>
          </a:prstGeom>
          <a:noFill/>
        </p:spPr>
        <p:txBody>
          <a:bodyPr wrap="square" anchor="t">
            <a:spAutoFit/>
          </a:bodyPr>
          <a:lstStyle/>
          <a:p>
            <a:pPr algn="l"/>
            <a:r>
              <a:rPr sz="4200" b="1">
                <a:solidFill>
                  <a:srgbClr val="FFFFFF"/>
                </a:solidFill>
                <a:latin typeface="Calibri"/>
              </a:rPr>
              <a:t>Larchmont Hotels: Housekeeping &amp; Room-Status UI</a:t>
            </a:r>
          </a:p>
        </p:txBody>
      </p:sp>
      <p:sp>
        <p:nvSpPr>
          <p:cNvPr id="5" name="TextBox 4"/>
          <p:cNvSpPr txBox="1"/>
          <p:nvPr/>
        </p:nvSpPr>
        <p:spPr>
          <a:xfrm>
            <a:off x="731520" y="3474720"/>
            <a:ext cx="10515600" cy="914400"/>
          </a:xfrm>
          <a:prstGeom prst="rect">
            <a:avLst/>
          </a:prstGeom>
          <a:noFill/>
        </p:spPr>
        <p:txBody>
          <a:bodyPr wrap="square" anchor="t">
            <a:spAutoFit/>
          </a:bodyPr>
          <a:lstStyle/>
          <a:p>
            <a:pPr algn="l"/>
            <a:r>
              <a:rPr sz="2200" b="0">
                <a:solidFill>
                  <a:srgbClr val="C9D6E2"/>
                </a:solidFill>
                <a:latin typeface="Calibri"/>
              </a:rPr>
              <a:t>What was asked, what we built, and how MCP powers the assistant</a:t>
            </a:r>
          </a:p>
        </p:txBody>
      </p:sp>
      <p:sp>
        <p:nvSpPr>
          <p:cNvPr id="6" name="TextBox 5"/>
          <p:cNvSpPr txBox="1"/>
          <p:nvPr/>
        </p:nvSpPr>
        <p:spPr>
          <a:xfrm>
            <a:off x="731520" y="5852160"/>
            <a:ext cx="10058400" cy="457200"/>
          </a:xfrm>
          <a:prstGeom prst="rect">
            <a:avLst/>
          </a:prstGeom>
          <a:noFill/>
        </p:spPr>
        <p:txBody>
          <a:bodyPr wrap="square" anchor="t">
            <a:spAutoFit/>
          </a:bodyPr>
          <a:lstStyle/>
          <a:p>
            <a:pPr algn="l"/>
            <a:r>
              <a:rPr sz="1600" b="0">
                <a:solidFill>
                  <a:srgbClr val="9FB3C6"/>
                </a:solidFill>
                <a:latin typeface="Calibri"/>
              </a:rPr>
              <a:t>Capstone, Track 4: Hospitality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Agenda</a:t>
            </a:r>
          </a:p>
        </p:txBody>
      </p:sp>
      <p:sp>
        <p:nvSpPr>
          <p:cNvPr id="5" name="TextBox 4"/>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2</a:t>
            </a:r>
          </a:p>
        </p:txBody>
      </p:sp>
      <p:sp>
        <p:nvSpPr>
          <p:cNvPr id="6" name="TextBox 5"/>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7" name="Rectangle 6"/>
          <p:cNvSpPr/>
          <p:nvPr/>
        </p:nvSpPr>
        <p:spPr>
          <a:xfrm>
            <a:off x="731520" y="1828800"/>
            <a:ext cx="33832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38328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057400"/>
            <a:ext cx="914400" cy="731520"/>
          </a:xfrm>
          <a:prstGeom prst="rect">
            <a:avLst/>
          </a:prstGeom>
          <a:noFill/>
        </p:spPr>
        <p:txBody>
          <a:bodyPr wrap="square" anchor="t">
            <a:spAutoFit/>
          </a:bodyPr>
          <a:lstStyle/>
          <a:p>
            <a:pPr algn="l"/>
            <a:r>
              <a:rPr sz="4000" b="1">
                <a:solidFill>
                  <a:srgbClr val="1F8A8A"/>
                </a:solidFill>
                <a:latin typeface="Calibri"/>
              </a:rPr>
              <a:t>1</a:t>
            </a:r>
          </a:p>
        </p:txBody>
      </p:sp>
      <p:sp>
        <p:nvSpPr>
          <p:cNvPr id="10" name="TextBox 9"/>
          <p:cNvSpPr txBox="1"/>
          <p:nvPr/>
        </p:nvSpPr>
        <p:spPr>
          <a:xfrm>
            <a:off x="960120" y="2834640"/>
            <a:ext cx="3017520" cy="640080"/>
          </a:xfrm>
          <a:prstGeom prst="rect">
            <a:avLst/>
          </a:prstGeom>
          <a:noFill/>
        </p:spPr>
        <p:txBody>
          <a:bodyPr wrap="square" anchor="t">
            <a:spAutoFit/>
          </a:bodyPr>
          <a:lstStyle/>
          <a:p>
            <a:pPr algn="l"/>
            <a:r>
              <a:rPr sz="1900" b="1">
                <a:solidFill>
                  <a:srgbClr val="142B45"/>
                </a:solidFill>
                <a:latin typeface="Calibri"/>
              </a:rPr>
              <a:t>The requirement</a:t>
            </a:r>
          </a:p>
        </p:txBody>
      </p:sp>
      <p:sp>
        <p:nvSpPr>
          <p:cNvPr id="11" name="Rectangle 10"/>
          <p:cNvSpPr/>
          <p:nvPr/>
        </p:nvSpPr>
        <p:spPr>
          <a:xfrm>
            <a:off x="4480559" y="1828800"/>
            <a:ext cx="33832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59" y="1828800"/>
            <a:ext cx="338328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59" y="2057400"/>
            <a:ext cx="914400" cy="731520"/>
          </a:xfrm>
          <a:prstGeom prst="rect">
            <a:avLst/>
          </a:prstGeom>
          <a:noFill/>
        </p:spPr>
        <p:txBody>
          <a:bodyPr wrap="square" anchor="t">
            <a:spAutoFit/>
          </a:bodyPr>
          <a:lstStyle/>
          <a:p>
            <a:pPr algn="l"/>
            <a:r>
              <a:rPr sz="4000" b="1">
                <a:solidFill>
                  <a:srgbClr val="1F8A8A"/>
                </a:solidFill>
                <a:latin typeface="Calibri"/>
              </a:rPr>
              <a:t>2</a:t>
            </a:r>
          </a:p>
        </p:txBody>
      </p:sp>
      <p:sp>
        <p:nvSpPr>
          <p:cNvPr id="14" name="TextBox 13"/>
          <p:cNvSpPr txBox="1"/>
          <p:nvPr/>
        </p:nvSpPr>
        <p:spPr>
          <a:xfrm>
            <a:off x="4709159" y="2834640"/>
            <a:ext cx="3017520" cy="640080"/>
          </a:xfrm>
          <a:prstGeom prst="rect">
            <a:avLst/>
          </a:prstGeom>
          <a:noFill/>
        </p:spPr>
        <p:txBody>
          <a:bodyPr wrap="square" anchor="t">
            <a:spAutoFit/>
          </a:bodyPr>
          <a:lstStyle/>
          <a:p>
            <a:pPr algn="l"/>
            <a:r>
              <a:rPr sz="1900" b="1">
                <a:solidFill>
                  <a:srgbClr val="142B45"/>
                </a:solidFill>
                <a:latin typeface="Calibri"/>
              </a:rPr>
              <a:t>The plan</a:t>
            </a:r>
          </a:p>
        </p:txBody>
      </p:sp>
      <p:sp>
        <p:nvSpPr>
          <p:cNvPr id="15" name="Rectangle 14"/>
          <p:cNvSpPr/>
          <p:nvPr/>
        </p:nvSpPr>
        <p:spPr>
          <a:xfrm>
            <a:off x="8229600" y="1828800"/>
            <a:ext cx="33832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828800"/>
            <a:ext cx="338328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2057400"/>
            <a:ext cx="914400" cy="731520"/>
          </a:xfrm>
          <a:prstGeom prst="rect">
            <a:avLst/>
          </a:prstGeom>
          <a:noFill/>
        </p:spPr>
        <p:txBody>
          <a:bodyPr wrap="square" anchor="t">
            <a:spAutoFit/>
          </a:bodyPr>
          <a:lstStyle/>
          <a:p>
            <a:pPr algn="l"/>
            <a:r>
              <a:rPr sz="4000" b="1">
                <a:solidFill>
                  <a:srgbClr val="1F8A8A"/>
                </a:solidFill>
                <a:latin typeface="Calibri"/>
              </a:rPr>
              <a:t>3</a:t>
            </a:r>
          </a:p>
        </p:txBody>
      </p:sp>
      <p:sp>
        <p:nvSpPr>
          <p:cNvPr id="18" name="TextBox 17"/>
          <p:cNvSpPr txBox="1"/>
          <p:nvPr/>
        </p:nvSpPr>
        <p:spPr>
          <a:xfrm>
            <a:off x="8458200" y="2834640"/>
            <a:ext cx="3017520" cy="640080"/>
          </a:xfrm>
          <a:prstGeom prst="rect">
            <a:avLst/>
          </a:prstGeom>
          <a:noFill/>
        </p:spPr>
        <p:txBody>
          <a:bodyPr wrap="square" anchor="t">
            <a:spAutoFit/>
          </a:bodyPr>
          <a:lstStyle/>
          <a:p>
            <a:pPr algn="l"/>
            <a:r>
              <a:rPr sz="1900" b="1">
                <a:solidFill>
                  <a:srgbClr val="142B45"/>
                </a:solidFill>
                <a:latin typeface="Calibri"/>
              </a:rPr>
              <a:t>What we built in the UI</a:t>
            </a:r>
          </a:p>
        </p:txBody>
      </p:sp>
      <p:sp>
        <p:nvSpPr>
          <p:cNvPr id="19" name="Rectangle 18"/>
          <p:cNvSpPr/>
          <p:nvPr/>
        </p:nvSpPr>
        <p:spPr>
          <a:xfrm>
            <a:off x="731520" y="3931920"/>
            <a:ext cx="33832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931920"/>
            <a:ext cx="338328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160520"/>
            <a:ext cx="914400" cy="731520"/>
          </a:xfrm>
          <a:prstGeom prst="rect">
            <a:avLst/>
          </a:prstGeom>
          <a:noFill/>
        </p:spPr>
        <p:txBody>
          <a:bodyPr wrap="square" anchor="t">
            <a:spAutoFit/>
          </a:bodyPr>
          <a:lstStyle/>
          <a:p>
            <a:pPr algn="l"/>
            <a:r>
              <a:rPr sz="4000" b="1">
                <a:solidFill>
                  <a:srgbClr val="1F8A8A"/>
                </a:solidFill>
                <a:latin typeface="Calibri"/>
              </a:rPr>
              <a:t>4</a:t>
            </a:r>
          </a:p>
        </p:txBody>
      </p:sp>
      <p:sp>
        <p:nvSpPr>
          <p:cNvPr id="22" name="TextBox 21"/>
          <p:cNvSpPr txBox="1"/>
          <p:nvPr/>
        </p:nvSpPr>
        <p:spPr>
          <a:xfrm>
            <a:off x="960120" y="4937760"/>
            <a:ext cx="3017520" cy="640080"/>
          </a:xfrm>
          <a:prstGeom prst="rect">
            <a:avLst/>
          </a:prstGeom>
          <a:noFill/>
        </p:spPr>
        <p:txBody>
          <a:bodyPr wrap="square" anchor="t">
            <a:spAutoFit/>
          </a:bodyPr>
          <a:lstStyle/>
          <a:p>
            <a:pPr algn="l"/>
            <a:r>
              <a:rPr sz="1900" b="1">
                <a:solidFill>
                  <a:srgbClr val="142B45"/>
                </a:solidFill>
                <a:latin typeface="Calibri"/>
              </a:rPr>
              <a:t>What is MCP?</a:t>
            </a:r>
          </a:p>
        </p:txBody>
      </p:sp>
      <p:sp>
        <p:nvSpPr>
          <p:cNvPr id="23" name="Rectangle 22"/>
          <p:cNvSpPr/>
          <p:nvPr/>
        </p:nvSpPr>
        <p:spPr>
          <a:xfrm>
            <a:off x="4480559" y="3931920"/>
            <a:ext cx="33832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3931920"/>
            <a:ext cx="338328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09159" y="4160520"/>
            <a:ext cx="914400" cy="731520"/>
          </a:xfrm>
          <a:prstGeom prst="rect">
            <a:avLst/>
          </a:prstGeom>
          <a:noFill/>
        </p:spPr>
        <p:txBody>
          <a:bodyPr wrap="square" anchor="t">
            <a:spAutoFit/>
          </a:bodyPr>
          <a:lstStyle/>
          <a:p>
            <a:pPr algn="l"/>
            <a:r>
              <a:rPr sz="4000" b="1">
                <a:solidFill>
                  <a:srgbClr val="1F8A8A"/>
                </a:solidFill>
                <a:latin typeface="Calibri"/>
              </a:rPr>
              <a:t>5</a:t>
            </a:r>
          </a:p>
        </p:txBody>
      </p:sp>
      <p:sp>
        <p:nvSpPr>
          <p:cNvPr id="26" name="TextBox 25"/>
          <p:cNvSpPr txBox="1"/>
          <p:nvPr/>
        </p:nvSpPr>
        <p:spPr>
          <a:xfrm>
            <a:off x="4709159" y="4937760"/>
            <a:ext cx="3017520" cy="640080"/>
          </a:xfrm>
          <a:prstGeom prst="rect">
            <a:avLst/>
          </a:prstGeom>
          <a:noFill/>
        </p:spPr>
        <p:txBody>
          <a:bodyPr wrap="square" anchor="t">
            <a:spAutoFit/>
          </a:bodyPr>
          <a:lstStyle/>
          <a:p>
            <a:pPr algn="l"/>
            <a:r>
              <a:rPr sz="1900" b="1">
                <a:solidFill>
                  <a:srgbClr val="142B45"/>
                </a:solidFill>
                <a:latin typeface="Calibri"/>
              </a:rPr>
              <a:t>How we used MCP</a:t>
            </a:r>
          </a:p>
        </p:txBody>
      </p:sp>
      <p:sp>
        <p:nvSpPr>
          <p:cNvPr id="27" name="Rectangle 26"/>
          <p:cNvSpPr/>
          <p:nvPr/>
        </p:nvSpPr>
        <p:spPr>
          <a:xfrm>
            <a:off x="8229600" y="3931920"/>
            <a:ext cx="3383280" cy="17373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3931920"/>
            <a:ext cx="338328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4160520"/>
            <a:ext cx="914400" cy="731520"/>
          </a:xfrm>
          <a:prstGeom prst="rect">
            <a:avLst/>
          </a:prstGeom>
          <a:noFill/>
        </p:spPr>
        <p:txBody>
          <a:bodyPr wrap="square" anchor="t">
            <a:spAutoFit/>
          </a:bodyPr>
          <a:lstStyle/>
          <a:p>
            <a:pPr algn="l"/>
            <a:r>
              <a:rPr sz="4000" b="1">
                <a:solidFill>
                  <a:srgbClr val="1F8A8A"/>
                </a:solidFill>
                <a:latin typeface="Calibri"/>
              </a:rPr>
              <a:t>6</a:t>
            </a:r>
          </a:p>
        </p:txBody>
      </p:sp>
      <p:sp>
        <p:nvSpPr>
          <p:cNvPr id="30" name="TextBox 29"/>
          <p:cNvSpPr txBox="1"/>
          <p:nvPr/>
        </p:nvSpPr>
        <p:spPr>
          <a:xfrm>
            <a:off x="8458200" y="4937760"/>
            <a:ext cx="3017520" cy="640080"/>
          </a:xfrm>
          <a:prstGeom prst="rect">
            <a:avLst/>
          </a:prstGeom>
          <a:noFill/>
        </p:spPr>
        <p:txBody>
          <a:bodyPr wrap="square" anchor="t">
            <a:spAutoFit/>
          </a:bodyPr>
          <a:lstStyle/>
          <a:p>
            <a:pPr algn="l"/>
            <a:r>
              <a:rPr sz="1900" b="1">
                <a:solidFill>
                  <a:srgbClr val="142B45"/>
                </a:solidFill>
                <a:latin typeface="Calibri"/>
              </a:rPr>
              <a:t>Status and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The requirement: why Sofia asked</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Source: docs/stakeholder-brief.md (Sofia Lindqvist, Director of Rooms, 19 October 2026)</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3</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53949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82296" cy="2103120"/>
          </a:xfrm>
          <a:prstGeom prst="rect">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5029200" cy="457200"/>
          </a:xfrm>
          <a:prstGeom prst="rect">
            <a:avLst/>
          </a:prstGeom>
          <a:noFill/>
        </p:spPr>
        <p:txBody>
          <a:bodyPr wrap="square" anchor="t">
            <a:spAutoFit/>
          </a:bodyPr>
          <a:lstStyle/>
          <a:p>
            <a:pPr algn="l"/>
            <a:r>
              <a:rPr sz="1700" b="1">
                <a:solidFill>
                  <a:srgbClr val="142B45"/>
                </a:solidFill>
                <a:latin typeface="Calibri"/>
              </a:rPr>
              <a:t>The problem</a:t>
            </a:r>
          </a:p>
        </p:txBody>
      </p:sp>
      <p:sp>
        <p:nvSpPr>
          <p:cNvPr id="11" name="TextBox 10"/>
          <p:cNvSpPr txBox="1"/>
          <p:nvPr/>
        </p:nvSpPr>
        <p:spPr>
          <a:xfrm>
            <a:off x="777240" y="2395728"/>
            <a:ext cx="5029200" cy="1463039"/>
          </a:xfrm>
          <a:prstGeom prst="rect">
            <a:avLst/>
          </a:prstGeom>
          <a:noFill/>
        </p:spPr>
        <p:txBody>
          <a:bodyPr wrap="square" anchor="t">
            <a:spAutoFit/>
          </a:bodyPr>
          <a:lstStyle/>
          <a:p>
            <a:pPr algn="l"/>
            <a:r>
              <a:rPr sz="1400" b="0">
                <a:solidFill>
                  <a:srgbClr val="222B35"/>
                </a:solidFill>
                <a:latin typeface="Calibri"/>
              </a:rPr>
              <a:t>At London Bridge the desk sold and checked in a guest to a room still being cleaned, and an out-of-order room (a leak) was given to a late arrival. Housekeeping told the desk by walkie-talkie and whiteboard.</a:t>
            </a:r>
          </a:p>
        </p:txBody>
      </p:sp>
      <p:sp>
        <p:nvSpPr>
          <p:cNvPr id="12" name="Rectangle 11"/>
          <p:cNvSpPr/>
          <p:nvPr/>
        </p:nvSpPr>
        <p:spPr>
          <a:xfrm>
            <a:off x="6217920" y="1828800"/>
            <a:ext cx="53949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828800"/>
            <a:ext cx="82296" cy="210312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920240"/>
            <a:ext cx="5029200" cy="457200"/>
          </a:xfrm>
          <a:prstGeom prst="rect">
            <a:avLst/>
          </a:prstGeom>
          <a:noFill/>
        </p:spPr>
        <p:txBody>
          <a:bodyPr wrap="square" anchor="t">
            <a:spAutoFit/>
          </a:bodyPr>
          <a:lstStyle/>
          <a:p>
            <a:pPr algn="l"/>
            <a:r>
              <a:rPr sz="1700" b="1">
                <a:solidFill>
                  <a:srgbClr val="142B45"/>
                </a:solidFill>
                <a:latin typeface="Calibri"/>
              </a:rPr>
              <a:t>The goal</a:t>
            </a:r>
          </a:p>
        </p:txBody>
      </p:sp>
      <p:sp>
        <p:nvSpPr>
          <p:cNvPr id="15" name="TextBox 14"/>
          <p:cNvSpPr txBox="1"/>
          <p:nvPr/>
        </p:nvSpPr>
        <p:spPr>
          <a:xfrm>
            <a:off x="6446520" y="2395728"/>
            <a:ext cx="5029200" cy="1463039"/>
          </a:xfrm>
          <a:prstGeom prst="rect">
            <a:avLst/>
          </a:prstGeom>
          <a:noFill/>
        </p:spPr>
        <p:txBody>
          <a:bodyPr wrap="square" anchor="t">
            <a:spAutoFit/>
          </a:bodyPr>
          <a:lstStyle/>
          <a:p>
            <a:pPr algn="l"/>
            <a:r>
              <a:rPr sz="1400" b="0">
                <a:solidFill>
                  <a:srgbClr val="222B35"/>
                </a:solidFill>
                <a:latin typeface="Calibri"/>
              </a:rPr>
              <a:t>One trustworthy board across all six hotels, so the desk can never sell a room that is not ready, and Sofia sees problems before TripAdvisor does.</a:t>
            </a:r>
          </a:p>
        </p:txBody>
      </p:sp>
      <p:sp>
        <p:nvSpPr>
          <p:cNvPr id="16" name="TextBox 15"/>
          <p:cNvSpPr txBox="1"/>
          <p:nvPr/>
        </p:nvSpPr>
        <p:spPr>
          <a:xfrm>
            <a:off x="548640" y="4206240"/>
            <a:ext cx="10972800" cy="457200"/>
          </a:xfrm>
          <a:prstGeom prst="rect">
            <a:avLst/>
          </a:prstGeom>
          <a:noFill/>
        </p:spPr>
        <p:txBody>
          <a:bodyPr wrap="square" anchor="t">
            <a:spAutoFit/>
          </a:bodyPr>
          <a:lstStyle/>
          <a:p>
            <a:pPr algn="l"/>
            <a:r>
              <a:rPr sz="2000" b="1">
                <a:solidFill>
                  <a:srgbClr val="142B45"/>
                </a:solidFill>
                <a:latin typeface="Calibri"/>
              </a:rPr>
              <a:t>How Sofia will judge it</a:t>
            </a:r>
          </a:p>
        </p:txBody>
      </p:sp>
      <p:sp>
        <p:nvSpPr>
          <p:cNvPr id="17" name="TextBox 16"/>
          <p:cNvSpPr txBox="1"/>
          <p:nvPr/>
        </p:nvSpPr>
        <p:spPr>
          <a:xfrm>
            <a:off x="548640" y="4663440"/>
            <a:ext cx="10972800" cy="1645920"/>
          </a:xfrm>
          <a:prstGeom prst="rect">
            <a:avLst/>
          </a:prstGeom>
          <a:noFill/>
        </p:spPr>
        <p:txBody>
          <a:bodyPr wrap="square">
            <a:spAutoFit/>
          </a:bodyPr>
          <a:lstStyle/>
          <a:p>
            <a:pPr>
              <a:spcAft>
                <a:spcPts val="800"/>
              </a:spcAft>
            </a:pPr>
            <a:r>
              <a:rPr sz="1800">
                <a:solidFill>
                  <a:srgbClr val="222B35"/>
                </a:solidFill>
                <a:latin typeface="Calibri"/>
              </a:rPr>
              <a:t>•  Show the board for one hotel</a:t>
            </a:r>
          </a:p>
          <a:p>
            <a:pPr>
              <a:spcAft>
                <a:spcPts val="800"/>
              </a:spcAft>
            </a:pPr>
            <a:r>
              <a:rPr sz="1800">
                <a:solidFill>
                  <a:srgbClr val="222B35"/>
                </a:solidFill>
                <a:latin typeface="Calibri"/>
              </a:rPr>
              <a:t>•  Show the late rooms list</a:t>
            </a:r>
          </a:p>
          <a:p>
            <a:pPr>
              <a:spcAft>
                <a:spcPts val="800"/>
              </a:spcAft>
            </a:pPr>
            <a:r>
              <a:rPr sz="1800">
                <a:solidFill>
                  <a:srgbClr val="222B35"/>
                </a:solidFill>
                <a:latin typeface="Calibri"/>
              </a:rPr>
              <a:t>•  Show that the desk cannot sell a room that is not ready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The requirement: what the board must do</a:t>
            </a:r>
          </a:p>
        </p:txBody>
      </p:sp>
      <p:sp>
        <p:nvSpPr>
          <p:cNvPr id="5" name="TextBox 4"/>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4</a:t>
            </a:r>
          </a:p>
        </p:txBody>
      </p:sp>
      <p:sp>
        <p:nvSpPr>
          <p:cNvPr id="6" name="TextBox 5"/>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7" name="Rectangle 6"/>
          <p:cNvSpPr/>
          <p:nvPr/>
        </p:nvSpPr>
        <p:spPr>
          <a:xfrm>
            <a:off x="548640" y="1463040"/>
            <a:ext cx="3657600" cy="22860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463040"/>
            <a:ext cx="82296" cy="2286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554480"/>
            <a:ext cx="3291840" cy="457200"/>
          </a:xfrm>
          <a:prstGeom prst="rect">
            <a:avLst/>
          </a:prstGeom>
          <a:noFill/>
        </p:spPr>
        <p:txBody>
          <a:bodyPr wrap="square" anchor="t">
            <a:spAutoFit/>
          </a:bodyPr>
          <a:lstStyle/>
          <a:p>
            <a:pPr algn="l"/>
            <a:r>
              <a:rPr sz="1700" b="1">
                <a:solidFill>
                  <a:srgbClr val="142B45"/>
                </a:solidFill>
                <a:latin typeface="Calibri"/>
              </a:rPr>
              <a:t>Room states</a:t>
            </a:r>
          </a:p>
        </p:txBody>
      </p:sp>
      <p:sp>
        <p:nvSpPr>
          <p:cNvPr id="10" name="TextBox 9"/>
          <p:cNvSpPr txBox="1"/>
          <p:nvPr/>
        </p:nvSpPr>
        <p:spPr>
          <a:xfrm>
            <a:off x="777240" y="2029968"/>
            <a:ext cx="3291840" cy="1645920"/>
          </a:xfrm>
          <a:prstGeom prst="rect">
            <a:avLst/>
          </a:prstGeom>
          <a:noFill/>
        </p:spPr>
        <p:txBody>
          <a:bodyPr wrap="square" anchor="t">
            <a:spAutoFit/>
          </a:bodyPr>
          <a:lstStyle/>
          <a:p>
            <a:pPr algn="l"/>
            <a:r>
              <a:rPr sz="1500" b="0">
                <a:solidFill>
                  <a:srgbClr val="222B35"/>
                </a:solidFill>
                <a:latin typeface="Calibri"/>
              </a:rPr>
              <a:t>Dirty, Cleaning, Inspected, Ready. Nothing becomes Ready without a supervisor inspection. Out-of-order rooms are never for sale.</a:t>
            </a:r>
          </a:p>
        </p:txBody>
      </p:sp>
      <p:sp>
        <p:nvSpPr>
          <p:cNvPr id="11" name="Rectangle 10"/>
          <p:cNvSpPr/>
          <p:nvPr/>
        </p:nvSpPr>
        <p:spPr>
          <a:xfrm>
            <a:off x="4389120" y="1463040"/>
            <a:ext cx="3657600" cy="22860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463040"/>
            <a:ext cx="82296" cy="2286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54480"/>
            <a:ext cx="3291840" cy="457200"/>
          </a:xfrm>
          <a:prstGeom prst="rect">
            <a:avLst/>
          </a:prstGeom>
          <a:noFill/>
        </p:spPr>
        <p:txBody>
          <a:bodyPr wrap="square" anchor="t">
            <a:spAutoFit/>
          </a:bodyPr>
          <a:lstStyle/>
          <a:p>
            <a:pPr algn="l"/>
            <a:r>
              <a:rPr sz="1700" b="1">
                <a:solidFill>
                  <a:srgbClr val="142B45"/>
                </a:solidFill>
                <a:latin typeface="Calibri"/>
              </a:rPr>
              <a:t>Turnaround SLA</a:t>
            </a:r>
          </a:p>
        </p:txBody>
      </p:sp>
      <p:sp>
        <p:nvSpPr>
          <p:cNvPr id="14" name="TextBox 13"/>
          <p:cNvSpPr txBox="1"/>
          <p:nvPr/>
        </p:nvSpPr>
        <p:spPr>
          <a:xfrm>
            <a:off x="4617720" y="2029968"/>
            <a:ext cx="3291840" cy="1645920"/>
          </a:xfrm>
          <a:prstGeom prst="rect">
            <a:avLst/>
          </a:prstGeom>
          <a:noFill/>
        </p:spPr>
        <p:txBody>
          <a:bodyPr wrap="square" anchor="t">
            <a:spAutoFit/>
          </a:bodyPr>
          <a:lstStyle/>
          <a:p>
            <a:pPr algn="l"/>
            <a:r>
              <a:rPr sz="1500" b="0">
                <a:solidFill>
                  <a:srgbClr val="222B35"/>
                </a:solidFill>
                <a:latin typeface="Calibri"/>
              </a:rPr>
              <a:t>45 minutes from checkout to Ready; 75 minutes for Suite and Family. Breaches listed worst first, clock starts at checkout.</a:t>
            </a:r>
          </a:p>
        </p:txBody>
      </p:sp>
      <p:sp>
        <p:nvSpPr>
          <p:cNvPr id="15" name="Rectangle 14"/>
          <p:cNvSpPr/>
          <p:nvPr/>
        </p:nvSpPr>
        <p:spPr>
          <a:xfrm>
            <a:off x="8229600" y="1463040"/>
            <a:ext cx="3474720" cy="22860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1463040"/>
            <a:ext cx="82296" cy="2286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1554480"/>
            <a:ext cx="3108960" cy="457200"/>
          </a:xfrm>
          <a:prstGeom prst="rect">
            <a:avLst/>
          </a:prstGeom>
          <a:noFill/>
        </p:spPr>
        <p:txBody>
          <a:bodyPr wrap="square" anchor="t">
            <a:spAutoFit/>
          </a:bodyPr>
          <a:lstStyle/>
          <a:p>
            <a:pPr algn="l"/>
            <a:r>
              <a:rPr sz="1700" b="1">
                <a:solidFill>
                  <a:srgbClr val="142B45"/>
                </a:solidFill>
                <a:latin typeface="Calibri"/>
              </a:rPr>
              <a:t>Floors</a:t>
            </a:r>
          </a:p>
        </p:txBody>
      </p:sp>
      <p:sp>
        <p:nvSpPr>
          <p:cNvPr id="18" name="TextBox 17"/>
          <p:cNvSpPr txBox="1"/>
          <p:nvPr/>
        </p:nvSpPr>
        <p:spPr>
          <a:xfrm>
            <a:off x="8458200" y="2029968"/>
            <a:ext cx="3108960" cy="1645920"/>
          </a:xfrm>
          <a:prstGeom prst="rect">
            <a:avLst/>
          </a:prstGeom>
          <a:noFill/>
        </p:spPr>
        <p:txBody>
          <a:bodyPr wrap="square" anchor="t">
            <a:spAutoFit/>
          </a:bodyPr>
          <a:lstStyle/>
          <a:p>
            <a:pPr algn="l"/>
            <a:r>
              <a:rPr sz="1500" b="0">
                <a:solidFill>
                  <a:srgbClr val="222B35"/>
                </a:solidFill>
                <a:latin typeface="Calibri"/>
              </a:rPr>
              <a:t>Board organised by floor. Each housekeeper is given a floor. Busiest floors easy to see.</a:t>
            </a:r>
          </a:p>
        </p:txBody>
      </p:sp>
      <p:sp>
        <p:nvSpPr>
          <p:cNvPr id="19" name="Rectangle 18"/>
          <p:cNvSpPr/>
          <p:nvPr/>
        </p:nvSpPr>
        <p:spPr>
          <a:xfrm>
            <a:off x="548640" y="3977639"/>
            <a:ext cx="3657600" cy="21945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977639"/>
            <a:ext cx="82296" cy="219456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4069079"/>
            <a:ext cx="3291840" cy="457200"/>
          </a:xfrm>
          <a:prstGeom prst="rect">
            <a:avLst/>
          </a:prstGeom>
          <a:noFill/>
        </p:spPr>
        <p:txBody>
          <a:bodyPr wrap="square" anchor="t">
            <a:spAutoFit/>
          </a:bodyPr>
          <a:lstStyle/>
          <a:p>
            <a:pPr algn="l"/>
            <a:r>
              <a:rPr sz="1700" b="1">
                <a:solidFill>
                  <a:srgbClr val="142B45"/>
                </a:solidFill>
                <a:latin typeface="Calibri"/>
              </a:rPr>
              <a:t>Desk question</a:t>
            </a:r>
          </a:p>
        </p:txBody>
      </p:sp>
      <p:sp>
        <p:nvSpPr>
          <p:cNvPr id="22" name="TextBox 21"/>
          <p:cNvSpPr txBox="1"/>
          <p:nvPr/>
        </p:nvSpPr>
        <p:spPr>
          <a:xfrm>
            <a:off x="777240" y="4544568"/>
            <a:ext cx="3291840" cy="1554480"/>
          </a:xfrm>
          <a:prstGeom prst="rect">
            <a:avLst/>
          </a:prstGeom>
          <a:noFill/>
        </p:spPr>
        <p:txBody>
          <a:bodyPr wrap="square" anchor="t">
            <a:spAutoFit/>
          </a:bodyPr>
          <a:lstStyle/>
          <a:p>
            <a:pPr algn="l"/>
            <a:r>
              <a:rPr sz="1500" b="0">
                <a:solidFill>
                  <a:srgbClr val="222B35"/>
                </a:solidFill>
                <a:latin typeface="Calibri"/>
              </a:rPr>
              <a:t>"When will this room be ready?" Answer with a time, or say it is out of order and when it returns.</a:t>
            </a:r>
          </a:p>
        </p:txBody>
      </p:sp>
      <p:sp>
        <p:nvSpPr>
          <p:cNvPr id="23" name="Rectangle 22"/>
          <p:cNvSpPr/>
          <p:nvPr/>
        </p:nvSpPr>
        <p:spPr>
          <a:xfrm>
            <a:off x="4389120" y="3977639"/>
            <a:ext cx="3657600" cy="21945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3977639"/>
            <a:ext cx="82296" cy="219456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4069079"/>
            <a:ext cx="3291840" cy="457200"/>
          </a:xfrm>
          <a:prstGeom prst="rect">
            <a:avLst/>
          </a:prstGeom>
          <a:noFill/>
        </p:spPr>
        <p:txBody>
          <a:bodyPr wrap="square" anchor="t">
            <a:spAutoFit/>
          </a:bodyPr>
          <a:lstStyle/>
          <a:p>
            <a:pPr algn="l"/>
            <a:r>
              <a:rPr sz="1700" b="1">
                <a:solidFill>
                  <a:srgbClr val="142B45"/>
                </a:solidFill>
                <a:latin typeface="Calibri"/>
              </a:rPr>
              <a:t>Live updates</a:t>
            </a:r>
          </a:p>
        </p:txBody>
      </p:sp>
      <p:sp>
        <p:nvSpPr>
          <p:cNvPr id="26" name="TextBox 25"/>
          <p:cNvSpPr txBox="1"/>
          <p:nvPr/>
        </p:nvSpPr>
        <p:spPr>
          <a:xfrm>
            <a:off x="4617720" y="4544568"/>
            <a:ext cx="3291840" cy="1554480"/>
          </a:xfrm>
          <a:prstGeom prst="rect">
            <a:avLst/>
          </a:prstGeom>
          <a:noFill/>
        </p:spPr>
        <p:txBody>
          <a:bodyPr wrap="square" anchor="t">
            <a:spAutoFit/>
          </a:bodyPr>
          <a:lstStyle/>
          <a:p>
            <a:pPr algn="l"/>
            <a:r>
              <a:rPr sz="1500" b="0">
                <a:solidFill>
                  <a:srgbClr val="222B35"/>
                </a:solidFill>
                <a:latin typeface="Calibri"/>
              </a:rPr>
              <a:t>Room turns Dirty the instant the key card lock reports checkout, and the screen updates without a refresh.</a:t>
            </a:r>
          </a:p>
        </p:txBody>
      </p:sp>
      <p:sp>
        <p:nvSpPr>
          <p:cNvPr id="27" name="Rectangle 26"/>
          <p:cNvSpPr/>
          <p:nvPr/>
        </p:nvSpPr>
        <p:spPr>
          <a:xfrm>
            <a:off x="8229600" y="3977639"/>
            <a:ext cx="3474720" cy="219456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229600" y="3977639"/>
            <a:ext cx="82296" cy="219456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4069079"/>
            <a:ext cx="3108960" cy="457200"/>
          </a:xfrm>
          <a:prstGeom prst="rect">
            <a:avLst/>
          </a:prstGeom>
          <a:noFill/>
        </p:spPr>
        <p:txBody>
          <a:bodyPr wrap="square" anchor="t">
            <a:spAutoFit/>
          </a:bodyPr>
          <a:lstStyle/>
          <a:p>
            <a:pPr algn="l"/>
            <a:r>
              <a:rPr sz="1700" b="1">
                <a:solidFill>
                  <a:srgbClr val="142B45"/>
                </a:solidFill>
                <a:latin typeface="Calibri"/>
              </a:rPr>
              <a:t>Also asked</a:t>
            </a:r>
          </a:p>
        </p:txBody>
      </p:sp>
      <p:sp>
        <p:nvSpPr>
          <p:cNvPr id="30" name="TextBox 29"/>
          <p:cNvSpPr txBox="1"/>
          <p:nvPr/>
        </p:nvSpPr>
        <p:spPr>
          <a:xfrm>
            <a:off x="8458200" y="4544568"/>
            <a:ext cx="3108960" cy="1554480"/>
          </a:xfrm>
          <a:prstGeom prst="rect">
            <a:avLst/>
          </a:prstGeom>
          <a:noFill/>
        </p:spPr>
        <p:txBody>
          <a:bodyPr wrap="square" anchor="t">
            <a:spAutoFit/>
          </a:bodyPr>
          <a:lstStyle/>
          <a:p>
            <a:pPr algn="l"/>
            <a:r>
              <a:rPr sz="1500" b="0">
                <a:solidFill>
                  <a:srgbClr val="222B35"/>
                </a:solidFill>
                <a:latin typeface="Calibri"/>
              </a:rPr>
              <a:t>Look at the Monday occupancy report (Edinburgh looked wrong).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Where we pushed back</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Not every request was taken at face value</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5</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1106424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82296" cy="2103120"/>
          </a:xfrm>
          <a:prstGeom prst="rect">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10698480" cy="457200"/>
          </a:xfrm>
          <a:prstGeom prst="rect">
            <a:avLst/>
          </a:prstGeom>
          <a:noFill/>
        </p:spPr>
        <p:txBody>
          <a:bodyPr wrap="square" anchor="t">
            <a:spAutoFit/>
          </a:bodyPr>
          <a:lstStyle/>
          <a:p>
            <a:pPr algn="l"/>
            <a:r>
              <a:rPr sz="1700" b="1">
                <a:solidFill>
                  <a:srgbClr val="142B45"/>
                </a:solidFill>
                <a:latin typeface="Calibri"/>
              </a:rPr>
              <a:t>Live tracking of housekeepers: declined</a:t>
            </a:r>
          </a:p>
        </p:txBody>
      </p:sp>
      <p:sp>
        <p:nvSpPr>
          <p:cNvPr id="11" name="TextBox 10"/>
          <p:cNvSpPr txBox="1"/>
          <p:nvPr/>
        </p:nvSpPr>
        <p:spPr>
          <a:xfrm>
            <a:off x="777240" y="2395728"/>
            <a:ext cx="10698480" cy="1463039"/>
          </a:xfrm>
          <a:prstGeom prst="rect">
            <a:avLst/>
          </a:prstGeom>
          <a:noFill/>
        </p:spPr>
        <p:txBody>
          <a:bodyPr wrap="square" anchor="t">
            <a:spAutoFit/>
          </a:bodyPr>
          <a:lstStyle/>
          <a:p>
            <a:pPr algn="l"/>
            <a:r>
              <a:rPr sz="1500" b="0">
                <a:solidFill>
                  <a:srgbClr val="222B35"/>
                </a:solidFill>
                <a:latin typeface="Calibri"/>
              </a:rPr>
              <a:t>The brief asks to show every housekeeper on the floor plan at all times, including off-clock staff and during breaks. Our SLA breach plan lists this as out of scope (BR-17), and the MCP views deliberately hold no location data.</a:t>
            </a:r>
          </a:p>
        </p:txBody>
      </p:sp>
      <p:sp>
        <p:nvSpPr>
          <p:cNvPr id="12" name="Rectangle 11"/>
          <p:cNvSpPr/>
          <p:nvPr/>
        </p:nvSpPr>
        <p:spPr>
          <a:xfrm>
            <a:off x="548640" y="4160520"/>
            <a:ext cx="11064240" cy="18288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82296" cy="18288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251959"/>
            <a:ext cx="10698480" cy="457200"/>
          </a:xfrm>
          <a:prstGeom prst="rect">
            <a:avLst/>
          </a:prstGeom>
          <a:noFill/>
        </p:spPr>
        <p:txBody>
          <a:bodyPr wrap="square" anchor="t">
            <a:spAutoFit/>
          </a:bodyPr>
          <a:lstStyle/>
          <a:p>
            <a:pPr algn="l"/>
            <a:r>
              <a:rPr sz="1700" b="1">
                <a:solidFill>
                  <a:srgbClr val="142B45"/>
                </a:solidFill>
                <a:latin typeface="Calibri"/>
              </a:rPr>
              <a:t>Why it matters</a:t>
            </a:r>
          </a:p>
        </p:txBody>
      </p:sp>
      <p:sp>
        <p:nvSpPr>
          <p:cNvPr id="15" name="TextBox 14"/>
          <p:cNvSpPr txBox="1"/>
          <p:nvPr/>
        </p:nvSpPr>
        <p:spPr>
          <a:xfrm>
            <a:off x="777240" y="4727448"/>
            <a:ext cx="10698480" cy="1188720"/>
          </a:xfrm>
          <a:prstGeom prst="rect">
            <a:avLst/>
          </a:prstGeom>
          <a:noFill/>
        </p:spPr>
        <p:txBody>
          <a:bodyPr wrap="square" anchor="t">
            <a:spAutoFit/>
          </a:bodyPr>
          <a:lstStyle/>
          <a:p>
            <a:pPr algn="l"/>
            <a:r>
              <a:rPr sz="1500" b="0">
                <a:solidFill>
                  <a:srgbClr val="222B35"/>
                </a:solidFill>
                <a:latin typeface="Calibri"/>
              </a:rPr>
              <a:t>Tracking off-the-clock staff is a privacy and employment-law risk (see docs/privacy-note.md). The board shows the assigned housekeeper by floor instead, which answers "who do I send?" without tracking anyone.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The plan: from brief to feature files</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Each feature has a FEATURE-*.md with why, scope, acceptance criteria, API contract and plan by area</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6</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ounded Rectangle 7"/>
          <p:cNvSpPr/>
          <p:nvPr/>
        </p:nvSpPr>
        <p:spPr>
          <a:xfrm>
            <a:off x="548640" y="2194560"/>
            <a:ext cx="2011680" cy="1463040"/>
          </a:xfrm>
          <a:prstGeom prst="round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1828800" cy="457200"/>
          </a:xfrm>
          <a:prstGeom prst="rect">
            <a:avLst/>
          </a:prstGeom>
          <a:noFill/>
        </p:spPr>
        <p:txBody>
          <a:bodyPr wrap="square" anchor="t">
            <a:spAutoFit/>
          </a:bodyPr>
          <a:lstStyle/>
          <a:p>
            <a:pPr algn="ctr"/>
            <a:r>
              <a:rPr sz="1800" b="1">
                <a:solidFill>
                  <a:srgbClr val="FFFFFF"/>
                </a:solidFill>
                <a:latin typeface="Calibri"/>
              </a:rPr>
              <a:t>Brief</a:t>
            </a:r>
          </a:p>
        </p:txBody>
      </p:sp>
      <p:sp>
        <p:nvSpPr>
          <p:cNvPr id="10" name="TextBox 9"/>
          <p:cNvSpPr txBox="1"/>
          <p:nvPr/>
        </p:nvSpPr>
        <p:spPr>
          <a:xfrm>
            <a:off x="640080" y="2788920"/>
            <a:ext cx="1828800" cy="822960"/>
          </a:xfrm>
          <a:prstGeom prst="rect">
            <a:avLst/>
          </a:prstGeom>
          <a:noFill/>
        </p:spPr>
        <p:txBody>
          <a:bodyPr wrap="square" anchor="t">
            <a:spAutoFit/>
          </a:bodyPr>
          <a:lstStyle/>
          <a:p>
            <a:pPr algn="ctr"/>
            <a:r>
              <a:rPr sz="1200" b="0">
                <a:solidFill>
                  <a:srgbClr val="FFFFFF"/>
                </a:solidFill>
                <a:latin typeface="Calibri"/>
              </a:rPr>
              <a:t>Stakeholder brief</a:t>
            </a:r>
          </a:p>
        </p:txBody>
      </p:sp>
      <p:sp>
        <p:nvSpPr>
          <p:cNvPr id="11" name="TextBox 10"/>
          <p:cNvSpPr txBox="1"/>
          <p:nvPr/>
        </p:nvSpPr>
        <p:spPr>
          <a:xfrm>
            <a:off x="2542032" y="2651760"/>
            <a:ext cx="365760" cy="457200"/>
          </a:xfrm>
          <a:prstGeom prst="rect">
            <a:avLst/>
          </a:prstGeom>
          <a:noFill/>
        </p:spPr>
        <p:txBody>
          <a:bodyPr wrap="square" anchor="t">
            <a:spAutoFit/>
          </a:bodyPr>
          <a:lstStyle/>
          <a:p>
            <a:pPr algn="l"/>
            <a:r>
              <a:rPr sz="2800" b="1">
                <a:solidFill>
                  <a:srgbClr val="6B7785"/>
                </a:solidFill>
                <a:latin typeface="Calibri"/>
              </a:rPr>
              <a:t>›</a:t>
            </a:r>
          </a:p>
        </p:txBody>
      </p:sp>
      <p:sp>
        <p:nvSpPr>
          <p:cNvPr id="12" name="Rounded Rectangle 11"/>
          <p:cNvSpPr/>
          <p:nvPr/>
        </p:nvSpPr>
        <p:spPr>
          <a:xfrm>
            <a:off x="2834640" y="2194560"/>
            <a:ext cx="2011680" cy="1463040"/>
          </a:xfrm>
          <a:prstGeom prst="round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2286000"/>
            <a:ext cx="1828800" cy="457200"/>
          </a:xfrm>
          <a:prstGeom prst="rect">
            <a:avLst/>
          </a:prstGeom>
          <a:noFill/>
        </p:spPr>
        <p:txBody>
          <a:bodyPr wrap="square" anchor="t">
            <a:spAutoFit/>
          </a:bodyPr>
          <a:lstStyle/>
          <a:p>
            <a:pPr algn="ctr"/>
            <a:r>
              <a:rPr sz="1800" b="1">
                <a:solidFill>
                  <a:srgbClr val="FFFFFF"/>
                </a:solidFill>
                <a:latin typeface="Calibri"/>
              </a:rPr>
              <a:t>Spec</a:t>
            </a:r>
          </a:p>
        </p:txBody>
      </p:sp>
      <p:sp>
        <p:nvSpPr>
          <p:cNvPr id="14" name="TextBox 13"/>
          <p:cNvSpPr txBox="1"/>
          <p:nvPr/>
        </p:nvSpPr>
        <p:spPr>
          <a:xfrm>
            <a:off x="2926080" y="2788920"/>
            <a:ext cx="1828800" cy="822960"/>
          </a:xfrm>
          <a:prstGeom prst="rect">
            <a:avLst/>
          </a:prstGeom>
          <a:noFill/>
        </p:spPr>
        <p:txBody>
          <a:bodyPr wrap="square" anchor="t">
            <a:spAutoFit/>
          </a:bodyPr>
          <a:lstStyle/>
          <a:p>
            <a:pPr algn="ctr"/>
            <a:r>
              <a:rPr sz="1200" b="0">
                <a:solidFill>
                  <a:srgbClr val="FFFFFF"/>
                </a:solidFill>
                <a:latin typeface="Calibri"/>
              </a:rPr>
              <a:t>docs/specs/housekeeping-board.md</a:t>
            </a:r>
          </a:p>
        </p:txBody>
      </p:sp>
      <p:sp>
        <p:nvSpPr>
          <p:cNvPr id="15" name="TextBox 14"/>
          <p:cNvSpPr txBox="1"/>
          <p:nvPr/>
        </p:nvSpPr>
        <p:spPr>
          <a:xfrm>
            <a:off x="4828032" y="2651760"/>
            <a:ext cx="365760" cy="457200"/>
          </a:xfrm>
          <a:prstGeom prst="rect">
            <a:avLst/>
          </a:prstGeom>
          <a:noFill/>
        </p:spPr>
        <p:txBody>
          <a:bodyPr wrap="square" anchor="t">
            <a:spAutoFit/>
          </a:bodyPr>
          <a:lstStyle/>
          <a:p>
            <a:pPr algn="l"/>
            <a:r>
              <a:rPr sz="2800" b="1">
                <a:solidFill>
                  <a:srgbClr val="6B7785"/>
                </a:solidFill>
                <a:latin typeface="Calibri"/>
              </a:rPr>
              <a:t>›</a:t>
            </a:r>
          </a:p>
        </p:txBody>
      </p:sp>
      <p:sp>
        <p:nvSpPr>
          <p:cNvPr id="16" name="Rounded Rectangle 15"/>
          <p:cNvSpPr/>
          <p:nvPr/>
        </p:nvSpPr>
        <p:spPr>
          <a:xfrm>
            <a:off x="5120640" y="2194560"/>
            <a:ext cx="2011680" cy="1463040"/>
          </a:xfrm>
          <a:prstGeom prst="round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12079" y="2286000"/>
            <a:ext cx="1828800" cy="457200"/>
          </a:xfrm>
          <a:prstGeom prst="rect">
            <a:avLst/>
          </a:prstGeom>
          <a:noFill/>
        </p:spPr>
        <p:txBody>
          <a:bodyPr wrap="square" anchor="t">
            <a:spAutoFit/>
          </a:bodyPr>
          <a:lstStyle/>
          <a:p>
            <a:pPr algn="ctr"/>
            <a:r>
              <a:rPr sz="1800" b="1">
                <a:solidFill>
                  <a:srgbClr val="FFFFFF"/>
                </a:solidFill>
                <a:latin typeface="Calibri"/>
              </a:rPr>
              <a:t>Feature plans</a:t>
            </a:r>
          </a:p>
        </p:txBody>
      </p:sp>
      <p:sp>
        <p:nvSpPr>
          <p:cNvPr id="18" name="TextBox 17"/>
          <p:cNvSpPr txBox="1"/>
          <p:nvPr/>
        </p:nvSpPr>
        <p:spPr>
          <a:xfrm>
            <a:off x="5212079" y="2788920"/>
            <a:ext cx="1828800" cy="822960"/>
          </a:xfrm>
          <a:prstGeom prst="rect">
            <a:avLst/>
          </a:prstGeom>
          <a:noFill/>
        </p:spPr>
        <p:txBody>
          <a:bodyPr wrap="square" anchor="t">
            <a:spAutoFit/>
          </a:bodyPr>
          <a:lstStyle/>
          <a:p>
            <a:pPr algn="ctr"/>
            <a:r>
              <a:rPr sz="1200" b="0">
                <a:solidFill>
                  <a:srgbClr val="FFFFFF"/>
                </a:solidFill>
                <a:latin typeface="Calibri"/>
              </a:rPr>
              <a:t>FEATURE-*.md with AC_NN criteria</a:t>
            </a:r>
          </a:p>
        </p:txBody>
      </p:sp>
      <p:sp>
        <p:nvSpPr>
          <p:cNvPr id="19" name="TextBox 18"/>
          <p:cNvSpPr txBox="1"/>
          <p:nvPr/>
        </p:nvSpPr>
        <p:spPr>
          <a:xfrm>
            <a:off x="7114031" y="2651760"/>
            <a:ext cx="365760" cy="457200"/>
          </a:xfrm>
          <a:prstGeom prst="rect">
            <a:avLst/>
          </a:prstGeom>
          <a:noFill/>
        </p:spPr>
        <p:txBody>
          <a:bodyPr wrap="square" anchor="t">
            <a:spAutoFit/>
          </a:bodyPr>
          <a:lstStyle/>
          <a:p>
            <a:pPr algn="l"/>
            <a:r>
              <a:rPr sz="2800" b="1">
                <a:solidFill>
                  <a:srgbClr val="6B7785"/>
                </a:solidFill>
                <a:latin typeface="Calibri"/>
              </a:rPr>
              <a:t>›</a:t>
            </a:r>
          </a:p>
        </p:txBody>
      </p:sp>
      <p:sp>
        <p:nvSpPr>
          <p:cNvPr id="20" name="Rounded Rectangle 19"/>
          <p:cNvSpPr/>
          <p:nvPr/>
        </p:nvSpPr>
        <p:spPr>
          <a:xfrm>
            <a:off x="7406640" y="2194560"/>
            <a:ext cx="2011680" cy="1463040"/>
          </a:xfrm>
          <a:prstGeom prst="round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79" y="2286000"/>
            <a:ext cx="1828800" cy="457200"/>
          </a:xfrm>
          <a:prstGeom prst="rect">
            <a:avLst/>
          </a:prstGeom>
          <a:noFill/>
        </p:spPr>
        <p:txBody>
          <a:bodyPr wrap="square" anchor="t">
            <a:spAutoFit/>
          </a:bodyPr>
          <a:lstStyle/>
          <a:p>
            <a:pPr algn="ctr"/>
            <a:r>
              <a:rPr sz="1800" b="1">
                <a:solidFill>
                  <a:srgbClr val="FFFFFF"/>
                </a:solidFill>
                <a:latin typeface="Calibri"/>
              </a:rPr>
              <a:t>Agents</a:t>
            </a:r>
          </a:p>
        </p:txBody>
      </p:sp>
      <p:sp>
        <p:nvSpPr>
          <p:cNvPr id="22" name="TextBox 21"/>
          <p:cNvSpPr txBox="1"/>
          <p:nvPr/>
        </p:nvSpPr>
        <p:spPr>
          <a:xfrm>
            <a:off x="7498079" y="2788920"/>
            <a:ext cx="1828800" cy="822960"/>
          </a:xfrm>
          <a:prstGeom prst="rect">
            <a:avLst/>
          </a:prstGeom>
          <a:noFill/>
        </p:spPr>
        <p:txBody>
          <a:bodyPr wrap="square" anchor="t">
            <a:spAutoFit/>
          </a:bodyPr>
          <a:lstStyle/>
          <a:p>
            <a:pPr algn="ctr"/>
            <a:r>
              <a:rPr sz="1200" b="0">
                <a:solidFill>
                  <a:srgbClr val="FFFFFF"/>
                </a:solidFill>
                <a:latin typeface="Calibri"/>
              </a:rPr>
              <a:t>backend, frontend, test-writer</a:t>
            </a:r>
          </a:p>
        </p:txBody>
      </p:sp>
      <p:sp>
        <p:nvSpPr>
          <p:cNvPr id="23" name="TextBox 22"/>
          <p:cNvSpPr txBox="1"/>
          <p:nvPr/>
        </p:nvSpPr>
        <p:spPr>
          <a:xfrm>
            <a:off x="9400032" y="2651760"/>
            <a:ext cx="365760" cy="457200"/>
          </a:xfrm>
          <a:prstGeom prst="rect">
            <a:avLst/>
          </a:prstGeom>
          <a:noFill/>
        </p:spPr>
        <p:txBody>
          <a:bodyPr wrap="square" anchor="t">
            <a:spAutoFit/>
          </a:bodyPr>
          <a:lstStyle/>
          <a:p>
            <a:pPr algn="l"/>
            <a:r>
              <a:rPr sz="2800" b="1">
                <a:solidFill>
                  <a:srgbClr val="6B7785"/>
                </a:solidFill>
                <a:latin typeface="Calibri"/>
              </a:rPr>
              <a:t>›</a:t>
            </a:r>
          </a:p>
        </p:txBody>
      </p:sp>
      <p:sp>
        <p:nvSpPr>
          <p:cNvPr id="24" name="Rounded Rectangle 23"/>
          <p:cNvSpPr/>
          <p:nvPr/>
        </p:nvSpPr>
        <p:spPr>
          <a:xfrm>
            <a:off x="9692640" y="2194560"/>
            <a:ext cx="2011680" cy="1463040"/>
          </a:xfrm>
          <a:prstGeom prst="round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2286000"/>
            <a:ext cx="1828800" cy="457200"/>
          </a:xfrm>
          <a:prstGeom prst="rect">
            <a:avLst/>
          </a:prstGeom>
          <a:noFill/>
        </p:spPr>
        <p:txBody>
          <a:bodyPr wrap="square" anchor="t">
            <a:spAutoFit/>
          </a:bodyPr>
          <a:lstStyle/>
          <a:p>
            <a:pPr algn="ctr"/>
            <a:r>
              <a:rPr sz="1800" b="1">
                <a:solidFill>
                  <a:srgbClr val="FFFFFF"/>
                </a:solidFill>
                <a:latin typeface="Calibri"/>
              </a:rPr>
              <a:t>Review</a:t>
            </a:r>
          </a:p>
        </p:txBody>
      </p:sp>
      <p:sp>
        <p:nvSpPr>
          <p:cNvPr id="26" name="TextBox 25"/>
          <p:cNvSpPr txBox="1"/>
          <p:nvPr/>
        </p:nvSpPr>
        <p:spPr>
          <a:xfrm>
            <a:off x="9784080" y="2788920"/>
            <a:ext cx="1828800" cy="822960"/>
          </a:xfrm>
          <a:prstGeom prst="rect">
            <a:avLst/>
          </a:prstGeom>
          <a:noFill/>
        </p:spPr>
        <p:txBody>
          <a:bodyPr wrap="square" anchor="t">
            <a:spAutoFit/>
          </a:bodyPr>
          <a:lstStyle/>
          <a:p>
            <a:pPr algn="ctr"/>
            <a:r>
              <a:rPr sz="1200" b="0">
                <a:solidFill>
                  <a:srgbClr val="FFFFFF"/>
                </a:solidFill>
                <a:latin typeface="Calibri"/>
              </a:rPr>
              <a:t>reviewer against checklist</a:t>
            </a:r>
          </a:p>
        </p:txBody>
      </p:sp>
      <p:sp>
        <p:nvSpPr>
          <p:cNvPr id="27" name="TextBox 26"/>
          <p:cNvSpPr txBox="1"/>
          <p:nvPr/>
        </p:nvSpPr>
        <p:spPr>
          <a:xfrm>
            <a:off x="548640" y="4114800"/>
            <a:ext cx="10972800" cy="2103120"/>
          </a:xfrm>
          <a:prstGeom prst="rect">
            <a:avLst/>
          </a:prstGeom>
          <a:noFill/>
        </p:spPr>
        <p:txBody>
          <a:bodyPr wrap="square">
            <a:spAutoFit/>
          </a:bodyPr>
          <a:lstStyle/>
          <a:p>
            <a:pPr>
              <a:spcAft>
                <a:spcPts val="800"/>
              </a:spcAft>
            </a:pPr>
            <a:r>
              <a:rPr sz="1600">
                <a:solidFill>
                  <a:srgbClr val="222B35"/>
                </a:solidFill>
                <a:latin typeface="Calibri"/>
              </a:rPr>
              <a:t>•  Request flow stays Controller, Service, Repository, DbContext; the UI only talks to the API through src/api/client.ts</a:t>
            </a:r>
          </a:p>
          <a:p>
            <a:pPr>
              <a:spcAft>
                <a:spcPts val="800"/>
              </a:spcAft>
            </a:pPr>
            <a:r>
              <a:rPr sz="1600">
                <a:solidFill>
                  <a:srgbClr val="222B35"/>
                </a:solidFill>
                <a:latin typeface="Calibri"/>
              </a:rPr>
              <a:t>•  Every screen uses StateView + useAsync for loading, empty and error states</a:t>
            </a:r>
          </a:p>
          <a:p>
            <a:pPr>
              <a:spcAft>
                <a:spcPts val="800"/>
              </a:spcAft>
            </a:pPr>
            <a:r>
              <a:rPr sz="1600">
                <a:solidFill>
                  <a:srgbClr val="222B35"/>
                </a:solidFill>
                <a:latin typeface="Calibri"/>
              </a:rPr>
              <a:t>•  TypeScript strict; the build (tsc -b &amp;&amp; vite build) must pass before work is called done</a:t>
            </a:r>
          </a:p>
          <a:p>
            <a:pPr>
              <a:spcAft>
                <a:spcPts val="800"/>
              </a:spcAft>
            </a:pPr>
            <a:r>
              <a:rPr sz="1600">
                <a:solidFill>
                  <a:srgbClr val="222B35"/>
                </a:solidFill>
                <a:latin typeface="Calibri"/>
              </a:rPr>
              <a:t>•  Tests are named AC_NN_Description to trace back to the acceptance criteria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What we built: the UI</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Vite + React 19 + TypeScript (strict) + react-router-dom. Navigation in the top bar.</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7</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92024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92024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103120"/>
            <a:ext cx="2377440" cy="457200"/>
          </a:xfrm>
          <a:prstGeom prst="rect">
            <a:avLst/>
          </a:prstGeom>
          <a:noFill/>
        </p:spPr>
        <p:txBody>
          <a:bodyPr wrap="square" anchor="t">
            <a:spAutoFit/>
          </a:bodyPr>
          <a:lstStyle/>
          <a:p>
            <a:pPr algn="l"/>
            <a:r>
              <a:rPr sz="1600" b="1">
                <a:solidFill>
                  <a:srgbClr val="142B45"/>
                </a:solidFill>
                <a:latin typeface="Calibri"/>
              </a:rPr>
              <a:t>Housekeeping board</a:t>
            </a:r>
          </a:p>
        </p:txBody>
      </p:sp>
      <p:sp>
        <p:nvSpPr>
          <p:cNvPr id="11" name="TextBox 10"/>
          <p:cNvSpPr txBox="1"/>
          <p:nvPr/>
        </p:nvSpPr>
        <p:spPr>
          <a:xfrm>
            <a:off x="685800" y="2697480"/>
            <a:ext cx="2377440" cy="731520"/>
          </a:xfrm>
          <a:prstGeom prst="rect">
            <a:avLst/>
          </a:prstGeom>
          <a:noFill/>
        </p:spPr>
        <p:txBody>
          <a:bodyPr wrap="square" anchor="t">
            <a:spAutoFit/>
          </a:bodyPr>
          <a:lstStyle/>
          <a:p>
            <a:pPr algn="l"/>
            <a:r>
              <a:rPr sz="1300" b="0">
                <a:solidFill>
                  <a:srgbClr val="222B35"/>
                </a:solidFill>
                <a:latin typeface="Calibri"/>
              </a:rPr>
              <a:t>Board by floor; SignalR hook keeps it fresh</a:t>
            </a:r>
          </a:p>
        </p:txBody>
      </p:sp>
      <p:sp>
        <p:nvSpPr>
          <p:cNvPr id="12" name="TextBox 11"/>
          <p:cNvSpPr txBox="1"/>
          <p:nvPr/>
        </p:nvSpPr>
        <p:spPr>
          <a:xfrm>
            <a:off x="685800" y="3474720"/>
            <a:ext cx="2377440" cy="365760"/>
          </a:xfrm>
          <a:prstGeom prst="rect">
            <a:avLst/>
          </a:prstGeom>
          <a:noFill/>
        </p:spPr>
        <p:txBody>
          <a:bodyPr wrap="square" anchor="t">
            <a:spAutoFit/>
          </a:bodyPr>
          <a:lstStyle/>
          <a:p>
            <a:pPr algn="l"/>
            <a:r>
              <a:rPr sz="1100" b="0">
                <a:solidFill>
                  <a:srgbClr val="6B7785"/>
                </a:solidFill>
                <a:latin typeface="Calibri"/>
              </a:rPr>
              <a:t>/housekeeping</a:t>
            </a:r>
          </a:p>
        </p:txBody>
      </p:sp>
      <p:sp>
        <p:nvSpPr>
          <p:cNvPr id="13" name="Rectangle 12"/>
          <p:cNvSpPr/>
          <p:nvPr/>
        </p:nvSpPr>
        <p:spPr>
          <a:xfrm>
            <a:off x="3383280" y="192024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192024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20440" y="2103120"/>
            <a:ext cx="2377440" cy="457200"/>
          </a:xfrm>
          <a:prstGeom prst="rect">
            <a:avLst/>
          </a:prstGeom>
          <a:noFill/>
        </p:spPr>
        <p:txBody>
          <a:bodyPr wrap="square" anchor="t">
            <a:spAutoFit/>
          </a:bodyPr>
          <a:lstStyle/>
          <a:p>
            <a:pPr algn="l"/>
            <a:r>
              <a:rPr sz="1600" b="1">
                <a:solidFill>
                  <a:srgbClr val="142B45"/>
                </a:solidFill>
                <a:latin typeface="Calibri"/>
              </a:rPr>
              <a:t>SLA breach list</a:t>
            </a:r>
          </a:p>
        </p:txBody>
      </p:sp>
      <p:sp>
        <p:nvSpPr>
          <p:cNvPr id="16" name="TextBox 15"/>
          <p:cNvSpPr txBox="1"/>
          <p:nvPr/>
        </p:nvSpPr>
        <p:spPr>
          <a:xfrm>
            <a:off x="3520440" y="2697480"/>
            <a:ext cx="2377440" cy="731520"/>
          </a:xfrm>
          <a:prstGeom prst="rect">
            <a:avLst/>
          </a:prstGeom>
          <a:noFill/>
        </p:spPr>
        <p:txBody>
          <a:bodyPr wrap="square" anchor="t">
            <a:spAutoFit/>
          </a:bodyPr>
          <a:lstStyle/>
          <a:p>
            <a:pPr algn="l"/>
            <a:r>
              <a:rPr sz="1300" b="0">
                <a:solidFill>
                  <a:srgbClr val="222B35"/>
                </a:solidFill>
                <a:latin typeface="Calibri"/>
              </a:rPr>
              <a:t>Worst-first breaches with housekeeper and target</a:t>
            </a:r>
          </a:p>
        </p:txBody>
      </p:sp>
      <p:sp>
        <p:nvSpPr>
          <p:cNvPr id="17" name="TextBox 16"/>
          <p:cNvSpPr txBox="1"/>
          <p:nvPr/>
        </p:nvSpPr>
        <p:spPr>
          <a:xfrm>
            <a:off x="3520440" y="3474720"/>
            <a:ext cx="2377440" cy="365760"/>
          </a:xfrm>
          <a:prstGeom prst="rect">
            <a:avLst/>
          </a:prstGeom>
          <a:noFill/>
        </p:spPr>
        <p:txBody>
          <a:bodyPr wrap="square" anchor="t">
            <a:spAutoFit/>
          </a:bodyPr>
          <a:lstStyle/>
          <a:p>
            <a:pPr algn="l"/>
            <a:r>
              <a:rPr sz="1100" b="0">
                <a:solidFill>
                  <a:srgbClr val="6B7785"/>
                </a:solidFill>
                <a:latin typeface="Calibri"/>
              </a:rPr>
              <a:t>/housekeeping/sla-breaches</a:t>
            </a:r>
          </a:p>
        </p:txBody>
      </p:sp>
      <p:sp>
        <p:nvSpPr>
          <p:cNvPr id="18" name="Rectangle 17"/>
          <p:cNvSpPr/>
          <p:nvPr/>
        </p:nvSpPr>
        <p:spPr>
          <a:xfrm>
            <a:off x="6217920" y="192024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192024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103120"/>
            <a:ext cx="2377440" cy="457200"/>
          </a:xfrm>
          <a:prstGeom prst="rect">
            <a:avLst/>
          </a:prstGeom>
          <a:noFill/>
        </p:spPr>
        <p:txBody>
          <a:bodyPr wrap="square" anchor="t">
            <a:spAutoFit/>
          </a:bodyPr>
          <a:lstStyle/>
          <a:p>
            <a:pPr algn="l"/>
            <a:r>
              <a:rPr sz="1600" b="1">
                <a:solidFill>
                  <a:srgbClr val="142B45"/>
                </a:solidFill>
                <a:latin typeface="Calibri"/>
              </a:rPr>
              <a:t>Floor assignments</a:t>
            </a:r>
          </a:p>
        </p:txBody>
      </p:sp>
      <p:sp>
        <p:nvSpPr>
          <p:cNvPr id="21" name="TextBox 20"/>
          <p:cNvSpPr txBox="1"/>
          <p:nvPr/>
        </p:nvSpPr>
        <p:spPr>
          <a:xfrm>
            <a:off x="6355080" y="2697480"/>
            <a:ext cx="2377440" cy="731520"/>
          </a:xfrm>
          <a:prstGeom prst="rect">
            <a:avLst/>
          </a:prstGeom>
          <a:noFill/>
        </p:spPr>
        <p:txBody>
          <a:bodyPr wrap="square" anchor="t">
            <a:spAutoFit/>
          </a:bodyPr>
          <a:lstStyle/>
          <a:p>
            <a:pPr algn="l"/>
            <a:r>
              <a:rPr sz="1300" b="0">
                <a:solidFill>
                  <a:srgbClr val="222B35"/>
                </a:solidFill>
                <a:latin typeface="Calibri"/>
              </a:rPr>
              <a:t>Which housekeeper has which floor</a:t>
            </a:r>
          </a:p>
        </p:txBody>
      </p:sp>
      <p:sp>
        <p:nvSpPr>
          <p:cNvPr id="22" name="TextBox 21"/>
          <p:cNvSpPr txBox="1"/>
          <p:nvPr/>
        </p:nvSpPr>
        <p:spPr>
          <a:xfrm>
            <a:off x="6355080" y="3474720"/>
            <a:ext cx="2377440" cy="365760"/>
          </a:xfrm>
          <a:prstGeom prst="rect">
            <a:avLst/>
          </a:prstGeom>
          <a:noFill/>
        </p:spPr>
        <p:txBody>
          <a:bodyPr wrap="square" anchor="t">
            <a:spAutoFit/>
          </a:bodyPr>
          <a:lstStyle/>
          <a:p>
            <a:pPr algn="l"/>
            <a:r>
              <a:rPr sz="1100" b="0">
                <a:solidFill>
                  <a:srgbClr val="6B7785"/>
                </a:solidFill>
                <a:latin typeface="Calibri"/>
              </a:rPr>
              <a:t>/housekeeping/floor-assignments</a:t>
            </a:r>
          </a:p>
        </p:txBody>
      </p:sp>
      <p:sp>
        <p:nvSpPr>
          <p:cNvPr id="23" name="Rectangle 22"/>
          <p:cNvSpPr/>
          <p:nvPr/>
        </p:nvSpPr>
        <p:spPr>
          <a:xfrm>
            <a:off x="9052560" y="192024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2560" y="192024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720" y="2103120"/>
            <a:ext cx="2377440" cy="457200"/>
          </a:xfrm>
          <a:prstGeom prst="rect">
            <a:avLst/>
          </a:prstGeom>
          <a:noFill/>
        </p:spPr>
        <p:txBody>
          <a:bodyPr wrap="square" anchor="t">
            <a:spAutoFit/>
          </a:bodyPr>
          <a:lstStyle/>
          <a:p>
            <a:pPr algn="l"/>
            <a:r>
              <a:rPr sz="1600" b="1">
                <a:solidFill>
                  <a:srgbClr val="142B45"/>
                </a:solidFill>
                <a:latin typeface="Calibri"/>
              </a:rPr>
              <a:t>Ready-by</a:t>
            </a:r>
          </a:p>
        </p:txBody>
      </p:sp>
      <p:sp>
        <p:nvSpPr>
          <p:cNvPr id="26" name="TextBox 25"/>
          <p:cNvSpPr txBox="1"/>
          <p:nvPr/>
        </p:nvSpPr>
        <p:spPr>
          <a:xfrm>
            <a:off x="9189720" y="2697480"/>
            <a:ext cx="2377440" cy="731520"/>
          </a:xfrm>
          <a:prstGeom prst="rect">
            <a:avLst/>
          </a:prstGeom>
          <a:noFill/>
        </p:spPr>
        <p:txBody>
          <a:bodyPr wrap="square" anchor="t">
            <a:spAutoFit/>
          </a:bodyPr>
          <a:lstStyle/>
          <a:p>
            <a:pPr algn="l"/>
            <a:r>
              <a:rPr sz="1300" b="0">
                <a:solidFill>
                  <a:srgbClr val="222B35"/>
                </a:solidFill>
                <a:latin typeface="Calibri"/>
              </a:rPr>
              <a:t>When will a room be ready?</a:t>
            </a:r>
          </a:p>
        </p:txBody>
      </p:sp>
      <p:sp>
        <p:nvSpPr>
          <p:cNvPr id="27" name="TextBox 26"/>
          <p:cNvSpPr txBox="1"/>
          <p:nvPr/>
        </p:nvSpPr>
        <p:spPr>
          <a:xfrm>
            <a:off x="9189720" y="3474720"/>
            <a:ext cx="2377440" cy="365760"/>
          </a:xfrm>
          <a:prstGeom prst="rect">
            <a:avLst/>
          </a:prstGeom>
          <a:noFill/>
        </p:spPr>
        <p:txBody>
          <a:bodyPr wrap="square" anchor="t">
            <a:spAutoFit/>
          </a:bodyPr>
          <a:lstStyle/>
          <a:p>
            <a:pPr algn="l"/>
            <a:r>
              <a:rPr sz="1100" b="0">
                <a:solidFill>
                  <a:srgbClr val="6B7785"/>
                </a:solidFill>
                <a:latin typeface="Calibri"/>
              </a:rPr>
              <a:t>/housekeeping/ready-by</a:t>
            </a:r>
          </a:p>
        </p:txBody>
      </p:sp>
      <p:sp>
        <p:nvSpPr>
          <p:cNvPr id="28" name="Rectangle 27"/>
          <p:cNvSpPr/>
          <p:nvPr/>
        </p:nvSpPr>
        <p:spPr>
          <a:xfrm>
            <a:off x="548640" y="416052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16052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343400"/>
            <a:ext cx="2377440" cy="457200"/>
          </a:xfrm>
          <a:prstGeom prst="rect">
            <a:avLst/>
          </a:prstGeom>
          <a:noFill/>
        </p:spPr>
        <p:txBody>
          <a:bodyPr wrap="square" anchor="t">
            <a:spAutoFit/>
          </a:bodyPr>
          <a:lstStyle/>
          <a:p>
            <a:pPr algn="l"/>
            <a:r>
              <a:rPr sz="1600" b="1">
                <a:solidFill>
                  <a:srgbClr val="142B45"/>
                </a:solidFill>
                <a:latin typeface="Calibri"/>
              </a:rPr>
              <a:t>Room types</a:t>
            </a:r>
          </a:p>
        </p:txBody>
      </p:sp>
      <p:sp>
        <p:nvSpPr>
          <p:cNvPr id="31" name="TextBox 30"/>
          <p:cNvSpPr txBox="1"/>
          <p:nvPr/>
        </p:nvSpPr>
        <p:spPr>
          <a:xfrm>
            <a:off x="685800" y="4937760"/>
            <a:ext cx="2377440" cy="731520"/>
          </a:xfrm>
          <a:prstGeom prst="rect">
            <a:avLst/>
          </a:prstGeom>
          <a:noFill/>
        </p:spPr>
        <p:txBody>
          <a:bodyPr wrap="square" anchor="t">
            <a:spAutoFit/>
          </a:bodyPr>
          <a:lstStyle/>
          <a:p>
            <a:pPr algn="l"/>
            <a:r>
              <a:rPr sz="1300" b="0">
                <a:solidFill>
                  <a:srgbClr val="222B35"/>
                </a:solidFill>
                <a:latin typeface="Calibri"/>
              </a:rPr>
              <a:t>Read-only SLA target per type</a:t>
            </a:r>
          </a:p>
        </p:txBody>
      </p:sp>
      <p:sp>
        <p:nvSpPr>
          <p:cNvPr id="32" name="TextBox 31"/>
          <p:cNvSpPr txBox="1"/>
          <p:nvPr/>
        </p:nvSpPr>
        <p:spPr>
          <a:xfrm>
            <a:off x="685800" y="5715000"/>
            <a:ext cx="2377440" cy="365760"/>
          </a:xfrm>
          <a:prstGeom prst="rect">
            <a:avLst/>
          </a:prstGeom>
          <a:noFill/>
        </p:spPr>
        <p:txBody>
          <a:bodyPr wrap="square" anchor="t">
            <a:spAutoFit/>
          </a:bodyPr>
          <a:lstStyle/>
          <a:p>
            <a:pPr algn="l"/>
            <a:r>
              <a:rPr sz="1100" b="0">
                <a:solidFill>
                  <a:srgbClr val="6B7785"/>
                </a:solidFill>
                <a:latin typeface="Calibri"/>
              </a:rPr>
              <a:t>/room-types</a:t>
            </a:r>
          </a:p>
        </p:txBody>
      </p:sp>
      <p:sp>
        <p:nvSpPr>
          <p:cNvPr id="33" name="Rectangle 32"/>
          <p:cNvSpPr/>
          <p:nvPr/>
        </p:nvSpPr>
        <p:spPr>
          <a:xfrm>
            <a:off x="3383280" y="416052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383280" y="416052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20440" y="4343400"/>
            <a:ext cx="2377440" cy="457200"/>
          </a:xfrm>
          <a:prstGeom prst="rect">
            <a:avLst/>
          </a:prstGeom>
          <a:noFill/>
        </p:spPr>
        <p:txBody>
          <a:bodyPr wrap="square" anchor="t">
            <a:spAutoFit/>
          </a:bodyPr>
          <a:lstStyle/>
          <a:p>
            <a:pPr algn="l"/>
            <a:r>
              <a:rPr sz="1600" b="1">
                <a:solidFill>
                  <a:srgbClr val="142B45"/>
                </a:solidFill>
                <a:latin typeface="Calibri"/>
              </a:rPr>
              <a:t>Assistant</a:t>
            </a:r>
          </a:p>
        </p:txBody>
      </p:sp>
      <p:sp>
        <p:nvSpPr>
          <p:cNvPr id="36" name="TextBox 35"/>
          <p:cNvSpPr txBox="1"/>
          <p:nvPr/>
        </p:nvSpPr>
        <p:spPr>
          <a:xfrm>
            <a:off x="3520440" y="4937760"/>
            <a:ext cx="2377440" cy="731520"/>
          </a:xfrm>
          <a:prstGeom prst="rect">
            <a:avLst/>
          </a:prstGeom>
          <a:noFill/>
        </p:spPr>
        <p:txBody>
          <a:bodyPr wrap="square" anchor="t">
            <a:spAutoFit/>
          </a:bodyPr>
          <a:lstStyle/>
          <a:p>
            <a:pPr algn="l"/>
            <a:r>
              <a:rPr sz="1300" b="0">
                <a:solidFill>
                  <a:srgbClr val="222B35"/>
                </a:solidFill>
                <a:latin typeface="Calibri"/>
              </a:rPr>
              <a:t>Chat over the MCP tools</a:t>
            </a:r>
          </a:p>
        </p:txBody>
      </p:sp>
      <p:sp>
        <p:nvSpPr>
          <p:cNvPr id="37" name="TextBox 36"/>
          <p:cNvSpPr txBox="1"/>
          <p:nvPr/>
        </p:nvSpPr>
        <p:spPr>
          <a:xfrm>
            <a:off x="3520440" y="5715000"/>
            <a:ext cx="2377440" cy="365760"/>
          </a:xfrm>
          <a:prstGeom prst="rect">
            <a:avLst/>
          </a:prstGeom>
          <a:noFill/>
        </p:spPr>
        <p:txBody>
          <a:bodyPr wrap="square" anchor="t">
            <a:spAutoFit/>
          </a:bodyPr>
          <a:lstStyle/>
          <a:p>
            <a:pPr algn="l"/>
            <a:r>
              <a:rPr sz="1100" b="0">
                <a:solidFill>
                  <a:srgbClr val="6B7785"/>
                </a:solidFill>
                <a:latin typeface="Calibri"/>
              </a:rPr>
              <a:t>/assistant</a:t>
            </a:r>
          </a:p>
        </p:txBody>
      </p:sp>
      <p:sp>
        <p:nvSpPr>
          <p:cNvPr id="38" name="Rectangle 37"/>
          <p:cNvSpPr/>
          <p:nvPr/>
        </p:nvSpPr>
        <p:spPr>
          <a:xfrm>
            <a:off x="6217920" y="416052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17920" y="4160520"/>
            <a:ext cx="2651760" cy="73152"/>
          </a:xfrm>
          <a:prstGeom prst="rect">
            <a:avLst/>
          </a:prstGeom>
          <a:solidFill>
            <a:srgbClr val="6B77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55080" y="4343400"/>
            <a:ext cx="2377440" cy="457200"/>
          </a:xfrm>
          <a:prstGeom prst="rect">
            <a:avLst/>
          </a:prstGeom>
          <a:noFill/>
        </p:spPr>
        <p:txBody>
          <a:bodyPr wrap="square" anchor="t">
            <a:spAutoFit/>
          </a:bodyPr>
          <a:lstStyle/>
          <a:p>
            <a:pPr algn="l"/>
            <a:r>
              <a:rPr sz="1600" b="1">
                <a:solidFill>
                  <a:srgbClr val="142B45"/>
                </a:solidFill>
                <a:latin typeface="Calibri"/>
              </a:rPr>
              <a:t>Occupancy</a:t>
            </a:r>
          </a:p>
        </p:txBody>
      </p:sp>
      <p:sp>
        <p:nvSpPr>
          <p:cNvPr id="41" name="TextBox 40"/>
          <p:cNvSpPr txBox="1"/>
          <p:nvPr/>
        </p:nvSpPr>
        <p:spPr>
          <a:xfrm>
            <a:off x="6355080" y="4937760"/>
            <a:ext cx="2377440" cy="731520"/>
          </a:xfrm>
          <a:prstGeom prst="rect">
            <a:avLst/>
          </a:prstGeom>
          <a:noFill/>
        </p:spPr>
        <p:txBody>
          <a:bodyPr wrap="square" anchor="t">
            <a:spAutoFit/>
          </a:bodyPr>
          <a:lstStyle/>
          <a:p>
            <a:pPr algn="l"/>
            <a:r>
              <a:rPr sz="1300" b="0">
                <a:solidFill>
                  <a:srgbClr val="222B35"/>
                </a:solidFill>
                <a:latin typeface="Calibri"/>
              </a:rPr>
              <a:t>Monday occupancy report</a:t>
            </a:r>
          </a:p>
        </p:txBody>
      </p:sp>
      <p:sp>
        <p:nvSpPr>
          <p:cNvPr id="42" name="TextBox 41"/>
          <p:cNvSpPr txBox="1"/>
          <p:nvPr/>
        </p:nvSpPr>
        <p:spPr>
          <a:xfrm>
            <a:off x="6355080" y="5715000"/>
            <a:ext cx="2377440" cy="365760"/>
          </a:xfrm>
          <a:prstGeom prst="rect">
            <a:avLst/>
          </a:prstGeom>
          <a:noFill/>
        </p:spPr>
        <p:txBody>
          <a:bodyPr wrap="square" anchor="t">
            <a:spAutoFit/>
          </a:bodyPr>
          <a:lstStyle/>
          <a:p>
            <a:pPr algn="l"/>
            <a:r>
              <a:rPr sz="1100" b="0">
                <a:solidFill>
                  <a:srgbClr val="6B7785"/>
                </a:solidFill>
                <a:latin typeface="Calibri"/>
              </a:rPr>
              <a:t>/reports/occupancy</a:t>
            </a:r>
          </a:p>
        </p:txBody>
      </p:sp>
      <p:sp>
        <p:nvSpPr>
          <p:cNvPr id="43" name="Rectangle 42"/>
          <p:cNvSpPr/>
          <p:nvPr/>
        </p:nvSpPr>
        <p:spPr>
          <a:xfrm>
            <a:off x="9052560" y="4160520"/>
            <a:ext cx="265176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052560" y="4160520"/>
            <a:ext cx="2651760" cy="73152"/>
          </a:xfrm>
          <a:prstGeom prst="rect">
            <a:avLst/>
          </a:prstGeom>
          <a:solidFill>
            <a:srgbClr val="6B77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89720" y="4343400"/>
            <a:ext cx="2377440" cy="457200"/>
          </a:xfrm>
          <a:prstGeom prst="rect">
            <a:avLst/>
          </a:prstGeom>
          <a:noFill/>
        </p:spPr>
        <p:txBody>
          <a:bodyPr wrap="square" anchor="t">
            <a:spAutoFit/>
          </a:bodyPr>
          <a:lstStyle/>
          <a:p>
            <a:pPr algn="l"/>
            <a:r>
              <a:rPr sz="1600" b="1">
                <a:solidFill>
                  <a:srgbClr val="142B45"/>
                </a:solidFill>
                <a:latin typeface="Calibri"/>
              </a:rPr>
              <a:t>Hotels, Bookings, Guests</a:t>
            </a:r>
          </a:p>
        </p:txBody>
      </p:sp>
      <p:sp>
        <p:nvSpPr>
          <p:cNvPr id="46" name="TextBox 45"/>
          <p:cNvSpPr txBox="1"/>
          <p:nvPr/>
        </p:nvSpPr>
        <p:spPr>
          <a:xfrm>
            <a:off x="9189720" y="4937760"/>
            <a:ext cx="2377440" cy="731520"/>
          </a:xfrm>
          <a:prstGeom prst="rect">
            <a:avLst/>
          </a:prstGeom>
          <a:noFill/>
        </p:spPr>
        <p:txBody>
          <a:bodyPr wrap="square" anchor="t">
            <a:spAutoFit/>
          </a:bodyPr>
          <a:lstStyle/>
          <a:p>
            <a:pPr algn="l"/>
            <a:r>
              <a:rPr sz="1300" b="0">
                <a:solidFill>
                  <a:srgbClr val="222B35"/>
                </a:solidFill>
                <a:latin typeface="Calibri"/>
              </a:rPr>
              <a:t>Existing reservations screens</a:t>
            </a:r>
          </a:p>
        </p:txBody>
      </p:sp>
      <p:sp>
        <p:nvSpPr>
          <p:cNvPr id="47" name="TextBox 46"/>
          <p:cNvSpPr txBox="1"/>
          <p:nvPr/>
        </p:nvSpPr>
        <p:spPr>
          <a:xfrm>
            <a:off x="9189720" y="5715000"/>
            <a:ext cx="2377440" cy="365760"/>
          </a:xfrm>
          <a:prstGeom prst="rect">
            <a:avLst/>
          </a:prstGeom>
          <a:noFill/>
        </p:spPr>
        <p:txBody>
          <a:bodyPr wrap="square" anchor="t">
            <a:spAutoFit/>
          </a:bodyPr>
          <a:lstStyle/>
          <a:p>
            <a:pPr algn="l"/>
            <a:r>
              <a:rPr sz="1100" b="0">
                <a:solidFill>
                  <a:srgbClr val="6B7785"/>
                </a:solidFill>
                <a:latin typeface="Calibri"/>
              </a:rPr>
              <a:t>/   /bookings   /guests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Screen: SLA breach list</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frontend/src/pages/SlaBreachesPage.tsx, route /housekeeping/sla-breaches (late-rooms kept as an alias)</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8</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5669280" cy="4297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920240"/>
            <a:ext cx="5303520" cy="365760"/>
          </a:xfrm>
          <a:prstGeom prst="rect">
            <a:avLst/>
          </a:prstGeom>
          <a:noFill/>
        </p:spPr>
        <p:txBody>
          <a:bodyPr wrap="square" anchor="t">
            <a:spAutoFit/>
          </a:bodyPr>
          <a:lstStyle/>
          <a:p>
            <a:pPr algn="l"/>
            <a:r>
              <a:rPr sz="1300" b="0">
                <a:solidFill>
                  <a:srgbClr val="6B7785"/>
                </a:solidFill>
                <a:latin typeface="Calibri"/>
              </a:rPr>
              <a:t>Mock-up of the layout (not a screenshot)</a:t>
            </a:r>
          </a:p>
        </p:txBody>
      </p:sp>
      <p:sp>
        <p:nvSpPr>
          <p:cNvPr id="10" name="Rectangle 9"/>
          <p:cNvSpPr/>
          <p:nvPr/>
        </p:nvSpPr>
        <p:spPr>
          <a:xfrm>
            <a:off x="731520" y="2377440"/>
            <a:ext cx="1645920" cy="914400"/>
          </a:xfrm>
          <a:prstGeom prst="rect">
            <a:avLst/>
          </a:prstGeom>
          <a:solidFill>
            <a:srgbClr val="FFFFFF"/>
          </a:solidFill>
          <a:ln>
            <a:solidFill>
              <a:srgbClr val="6B77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23160"/>
            <a:ext cx="1645920" cy="365760"/>
          </a:xfrm>
          <a:prstGeom prst="rect">
            <a:avLst/>
          </a:prstGeom>
          <a:noFill/>
        </p:spPr>
        <p:txBody>
          <a:bodyPr wrap="square" anchor="t">
            <a:spAutoFit/>
          </a:bodyPr>
          <a:lstStyle/>
          <a:p>
            <a:pPr algn="ctr"/>
            <a:r>
              <a:rPr sz="1100" b="0">
                <a:solidFill>
                  <a:srgbClr val="6B7785"/>
                </a:solidFill>
                <a:latin typeface="Calibri"/>
              </a:rPr>
              <a:t>Breaching rooms</a:t>
            </a:r>
          </a:p>
        </p:txBody>
      </p:sp>
      <p:sp>
        <p:nvSpPr>
          <p:cNvPr id="12" name="TextBox 11"/>
          <p:cNvSpPr txBox="1"/>
          <p:nvPr/>
        </p:nvSpPr>
        <p:spPr>
          <a:xfrm>
            <a:off x="731520" y="2788920"/>
            <a:ext cx="1645920" cy="457200"/>
          </a:xfrm>
          <a:prstGeom prst="rect">
            <a:avLst/>
          </a:prstGeom>
          <a:noFill/>
        </p:spPr>
        <p:txBody>
          <a:bodyPr wrap="square" anchor="t">
            <a:spAutoFit/>
          </a:bodyPr>
          <a:lstStyle/>
          <a:p>
            <a:pPr algn="ctr"/>
            <a:r>
              <a:rPr sz="1800" b="1">
                <a:solidFill>
                  <a:srgbClr val="142B45"/>
                </a:solidFill>
                <a:latin typeface="Calibri"/>
              </a:rPr>
              <a:t>Total</a:t>
            </a:r>
          </a:p>
        </p:txBody>
      </p:sp>
      <p:sp>
        <p:nvSpPr>
          <p:cNvPr id="13" name="Rectangle 12"/>
          <p:cNvSpPr/>
          <p:nvPr/>
        </p:nvSpPr>
        <p:spPr>
          <a:xfrm>
            <a:off x="2514600" y="2377440"/>
            <a:ext cx="1645920" cy="914400"/>
          </a:xfrm>
          <a:prstGeom prst="rect">
            <a:avLst/>
          </a:prstGeom>
          <a:solidFill>
            <a:srgbClr val="FFFFFF"/>
          </a:solidFill>
          <a:ln>
            <a:solidFill>
              <a:srgbClr val="6B77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14600" y="2423160"/>
            <a:ext cx="1645920" cy="365760"/>
          </a:xfrm>
          <a:prstGeom prst="rect">
            <a:avLst/>
          </a:prstGeom>
          <a:noFill/>
        </p:spPr>
        <p:txBody>
          <a:bodyPr wrap="square" anchor="t">
            <a:spAutoFit/>
          </a:bodyPr>
          <a:lstStyle/>
          <a:p>
            <a:pPr algn="ctr"/>
            <a:r>
              <a:rPr sz="1100" b="0">
                <a:solidFill>
                  <a:srgbClr val="6B7785"/>
                </a:solidFill>
                <a:latin typeface="Calibri"/>
              </a:rPr>
              <a:t>Worst breach</a:t>
            </a:r>
          </a:p>
        </p:txBody>
      </p:sp>
      <p:sp>
        <p:nvSpPr>
          <p:cNvPr id="15" name="TextBox 14"/>
          <p:cNvSpPr txBox="1"/>
          <p:nvPr/>
        </p:nvSpPr>
        <p:spPr>
          <a:xfrm>
            <a:off x="2514600" y="2788920"/>
            <a:ext cx="1645920" cy="457200"/>
          </a:xfrm>
          <a:prstGeom prst="rect">
            <a:avLst/>
          </a:prstGeom>
          <a:noFill/>
        </p:spPr>
        <p:txBody>
          <a:bodyPr wrap="square" anchor="t">
            <a:spAutoFit/>
          </a:bodyPr>
          <a:lstStyle/>
          <a:p>
            <a:pPr algn="ctr"/>
            <a:r>
              <a:rPr sz="1800" b="1">
                <a:solidFill>
                  <a:srgbClr val="142B45"/>
                </a:solidFill>
                <a:latin typeface="Calibri"/>
              </a:rPr>
              <a:t>+N min</a:t>
            </a:r>
          </a:p>
        </p:txBody>
      </p:sp>
      <p:sp>
        <p:nvSpPr>
          <p:cNvPr id="16" name="Rectangle 15"/>
          <p:cNvSpPr/>
          <p:nvPr/>
        </p:nvSpPr>
        <p:spPr>
          <a:xfrm>
            <a:off x="4297680" y="2377440"/>
            <a:ext cx="1645920" cy="914400"/>
          </a:xfrm>
          <a:prstGeom prst="rect">
            <a:avLst/>
          </a:prstGeom>
          <a:solidFill>
            <a:srgbClr val="FFFFFF"/>
          </a:solidFill>
          <a:ln>
            <a:solidFill>
              <a:srgbClr val="6B778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97680" y="2423160"/>
            <a:ext cx="1645920" cy="365760"/>
          </a:xfrm>
          <a:prstGeom prst="rect">
            <a:avLst/>
          </a:prstGeom>
          <a:noFill/>
        </p:spPr>
        <p:txBody>
          <a:bodyPr wrap="square" anchor="t">
            <a:spAutoFit/>
          </a:bodyPr>
          <a:lstStyle/>
          <a:p>
            <a:pPr algn="ctr"/>
            <a:r>
              <a:rPr sz="1100" b="0">
                <a:solidFill>
                  <a:srgbClr val="6B7785"/>
                </a:solidFill>
                <a:latin typeface="Calibri"/>
              </a:rPr>
              <a:t>Affected floors</a:t>
            </a:r>
          </a:p>
        </p:txBody>
      </p:sp>
      <p:sp>
        <p:nvSpPr>
          <p:cNvPr id="18" name="TextBox 17"/>
          <p:cNvSpPr txBox="1"/>
          <p:nvPr/>
        </p:nvSpPr>
        <p:spPr>
          <a:xfrm>
            <a:off x="4297680" y="2788920"/>
            <a:ext cx="1645920" cy="457200"/>
          </a:xfrm>
          <a:prstGeom prst="rect">
            <a:avLst/>
          </a:prstGeom>
          <a:noFill/>
        </p:spPr>
        <p:txBody>
          <a:bodyPr wrap="square" anchor="t">
            <a:spAutoFit/>
          </a:bodyPr>
          <a:lstStyle/>
          <a:p>
            <a:pPr algn="ctr"/>
            <a:r>
              <a:rPr sz="1800" b="1">
                <a:solidFill>
                  <a:srgbClr val="142B45"/>
                </a:solidFill>
                <a:latin typeface="Calibri"/>
              </a:rPr>
              <a:t>Count</a:t>
            </a:r>
          </a:p>
        </p:txBody>
      </p:sp>
      <p:sp>
        <p:nvSpPr>
          <p:cNvPr id="19" name="Rectangle 18"/>
          <p:cNvSpPr/>
          <p:nvPr/>
        </p:nvSpPr>
        <p:spPr>
          <a:xfrm>
            <a:off x="731520" y="3520440"/>
            <a:ext cx="5303520" cy="36576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547872"/>
            <a:ext cx="5212080" cy="365760"/>
          </a:xfrm>
          <a:prstGeom prst="rect">
            <a:avLst/>
          </a:prstGeom>
          <a:noFill/>
        </p:spPr>
        <p:txBody>
          <a:bodyPr wrap="square" anchor="t">
            <a:spAutoFit/>
          </a:bodyPr>
          <a:lstStyle/>
          <a:p>
            <a:pPr algn="l"/>
            <a:r>
              <a:rPr sz="1100" b="1">
                <a:solidFill>
                  <a:srgbClr val="FFFFFF"/>
                </a:solidFill>
                <a:latin typeface="Calibri"/>
              </a:rPr>
              <a:t>Room | Floor | Housekeeper | Type | Target | Over</a:t>
            </a:r>
          </a:p>
        </p:txBody>
      </p:sp>
      <p:sp>
        <p:nvSpPr>
          <p:cNvPr id="21" name="Rectangle 20"/>
          <p:cNvSpPr/>
          <p:nvPr/>
        </p:nvSpPr>
        <p:spPr>
          <a:xfrm>
            <a:off x="731520" y="3931920"/>
            <a:ext cx="5303520" cy="411480"/>
          </a:xfrm>
          <a:prstGeom prst="rect">
            <a:avLst/>
          </a:prstGeom>
          <a:solidFill>
            <a:srgbClr val="F8D7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3959352"/>
            <a:ext cx="5212080" cy="365760"/>
          </a:xfrm>
          <a:prstGeom prst="rect">
            <a:avLst/>
          </a:prstGeom>
          <a:noFill/>
        </p:spPr>
        <p:txBody>
          <a:bodyPr wrap="square" anchor="t">
            <a:spAutoFit/>
          </a:bodyPr>
          <a:lstStyle/>
          <a:p>
            <a:pPr algn="l"/>
            <a:r>
              <a:rPr sz="1100" b="0">
                <a:solidFill>
                  <a:srgbClr val="222B35"/>
                </a:solidFill>
                <a:latin typeface="Calibri"/>
              </a:rPr>
              <a:t>103 | 1 | Assigned name | Standard | 45 | +75 min</a:t>
            </a:r>
          </a:p>
        </p:txBody>
      </p:sp>
      <p:sp>
        <p:nvSpPr>
          <p:cNvPr id="23" name="Rectangle 22"/>
          <p:cNvSpPr/>
          <p:nvPr/>
        </p:nvSpPr>
        <p:spPr>
          <a:xfrm>
            <a:off x="731520" y="4389120"/>
            <a:ext cx="5303520" cy="411480"/>
          </a:xfrm>
          <a:prstGeom prst="rect">
            <a:avLst/>
          </a:prstGeom>
          <a:solidFill>
            <a:srgbClr val="FDE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4416552"/>
            <a:ext cx="5212080" cy="365760"/>
          </a:xfrm>
          <a:prstGeom prst="rect">
            <a:avLst/>
          </a:prstGeom>
          <a:noFill/>
        </p:spPr>
        <p:txBody>
          <a:bodyPr wrap="square" anchor="t">
            <a:spAutoFit/>
          </a:bodyPr>
          <a:lstStyle/>
          <a:p>
            <a:pPr algn="l"/>
            <a:r>
              <a:rPr sz="1100" b="0">
                <a:solidFill>
                  <a:srgbClr val="222B35"/>
                </a:solidFill>
                <a:latin typeface="Calibri"/>
              </a:rPr>
              <a:t>101 | 1 | Unassigned | Standard | 45 | +15 min</a:t>
            </a:r>
          </a:p>
        </p:txBody>
      </p:sp>
      <p:sp>
        <p:nvSpPr>
          <p:cNvPr id="25" name="TextBox 24"/>
          <p:cNvSpPr txBox="1"/>
          <p:nvPr/>
        </p:nvSpPr>
        <p:spPr>
          <a:xfrm>
            <a:off x="731520" y="5029200"/>
            <a:ext cx="5303520" cy="914400"/>
          </a:xfrm>
          <a:prstGeom prst="rect">
            <a:avLst/>
          </a:prstGeom>
          <a:noFill/>
        </p:spPr>
        <p:txBody>
          <a:bodyPr wrap="square" anchor="t">
            <a:spAutoFit/>
          </a:bodyPr>
          <a:lstStyle/>
          <a:p>
            <a:pPr algn="l"/>
            <a:r>
              <a:rPr sz="1200" b="0">
                <a:solidFill>
                  <a:srgbClr val="6B7785"/>
                </a:solidFill>
                <a:latin typeface="Calibri"/>
              </a:rPr>
              <a:t>Critical over 30 min, moderate 1 to 30 min</a:t>
            </a:r>
          </a:p>
          <a:p>
            <a:pPr algn="l"/>
            <a:r>
              <a:rPr sz="1200" b="0">
                <a:solidFill>
                  <a:srgbClr val="6B7785"/>
                </a:solidFill>
                <a:latin typeface="Calibri"/>
              </a:rPr>
              <a:t>Hotel selector for the Larchmont properties</a:t>
            </a:r>
          </a:p>
        </p:txBody>
      </p:sp>
      <p:sp>
        <p:nvSpPr>
          <p:cNvPr id="26" name="TextBox 25"/>
          <p:cNvSpPr txBox="1"/>
          <p:nvPr/>
        </p:nvSpPr>
        <p:spPr>
          <a:xfrm>
            <a:off x="6492240" y="1828800"/>
            <a:ext cx="5303520" cy="4389120"/>
          </a:xfrm>
          <a:prstGeom prst="rect">
            <a:avLst/>
          </a:prstGeom>
          <a:noFill/>
        </p:spPr>
        <p:txBody>
          <a:bodyPr wrap="square">
            <a:spAutoFit/>
          </a:bodyPr>
          <a:lstStyle/>
          <a:p>
            <a:pPr>
              <a:spcAft>
                <a:spcPts val="800"/>
              </a:spcAft>
            </a:pPr>
            <a:r>
              <a:rPr sz="1600">
                <a:solidFill>
                  <a:srgbClr val="222B35"/>
                </a:solidFill>
                <a:latin typeface="Calibri"/>
              </a:rPr>
              <a:t>•  Sorted worst first (AC_01)</a:t>
            </a:r>
          </a:p>
          <a:p>
            <a:pPr>
              <a:spcAft>
                <a:spcPts val="800"/>
              </a:spcAft>
            </a:pPr>
            <a:r>
              <a:rPr sz="1600">
                <a:solidFill>
                  <a:srgbClr val="222B35"/>
                </a:solidFill>
                <a:latin typeface="Calibri"/>
              </a:rPr>
              <a:t>•  Shows room type, 45 or 75 minute target and minutes over (AC_02)</a:t>
            </a:r>
          </a:p>
          <a:p>
            <a:pPr>
              <a:spcAft>
                <a:spcPts val="800"/>
              </a:spcAft>
            </a:pPr>
            <a:r>
              <a:rPr sz="1600">
                <a:solidFill>
                  <a:srgbClr val="222B35"/>
                </a:solidFill>
                <a:latin typeface="Calibri"/>
              </a:rPr>
              <a:t>•  Housekeeper for that floor, or "Unassigned" (AC_03)</a:t>
            </a:r>
          </a:p>
          <a:p>
            <a:pPr>
              <a:spcAft>
                <a:spcPts val="800"/>
              </a:spcAft>
            </a:pPr>
            <a:r>
              <a:rPr sz="1600">
                <a:solidFill>
                  <a:srgbClr val="222B35"/>
                </a:solidFill>
                <a:latin typeface="Calibri"/>
              </a:rPr>
              <a:t>•  Empty state: "No rooms currently breaching SLA." (AC_04)</a:t>
            </a:r>
          </a:p>
          <a:p>
            <a:pPr>
              <a:spcAft>
                <a:spcPts val="800"/>
              </a:spcAft>
            </a:pPr>
            <a:r>
              <a:rPr sz="1600">
                <a:solidFill>
                  <a:srgbClr val="222B35"/>
                </a:solidFill>
                <a:latin typeface="Calibri"/>
              </a:rPr>
              <a:t>•  Loading and error states with working retry (AC_05)</a:t>
            </a:r>
          </a:p>
          <a:p>
            <a:pPr>
              <a:spcAft>
                <a:spcPts val="800"/>
              </a:spcAft>
            </a:pPr>
            <a:r>
              <a:rPr sz="1600">
                <a:solidFill>
                  <a:srgbClr val="222B35"/>
                </a:solidFill>
                <a:latin typeface="Calibri"/>
              </a:rPr>
              <a:t>•  Both routes render the screen (AC_06)</a:t>
            </a:r>
          </a:p>
          <a:p>
            <a:pPr>
              <a:spcAft>
                <a:spcPts val="800"/>
              </a:spcAft>
            </a:pPr>
            <a:r>
              <a:rPr sz="1600">
                <a:solidFill>
                  <a:srgbClr val="222B35"/>
                </a:solidFill>
                <a:latin typeface="Calibri"/>
              </a:rPr>
              <a:t>•  Board links prominently to "SLA breach list" (AC_07)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Room types, live board and shared states</a:t>
            </a:r>
          </a:p>
        </p:txBody>
      </p:sp>
      <p:sp>
        <p:nvSpPr>
          <p:cNvPr id="5" name="TextBox 4"/>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9</a:t>
            </a:r>
          </a:p>
        </p:txBody>
      </p:sp>
      <p:sp>
        <p:nvSpPr>
          <p:cNvPr id="6" name="TextBox 5"/>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7" name="Rectangle 6"/>
          <p:cNvSpPr/>
          <p:nvPr/>
        </p:nvSpPr>
        <p:spPr>
          <a:xfrm>
            <a:off x="548640" y="1554480"/>
            <a:ext cx="5486400" cy="237744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554480"/>
            <a:ext cx="82296" cy="237744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45920"/>
            <a:ext cx="5120640" cy="457200"/>
          </a:xfrm>
          <a:prstGeom prst="rect">
            <a:avLst/>
          </a:prstGeom>
          <a:noFill/>
        </p:spPr>
        <p:txBody>
          <a:bodyPr wrap="square" anchor="t">
            <a:spAutoFit/>
          </a:bodyPr>
          <a:lstStyle/>
          <a:p>
            <a:pPr algn="l"/>
            <a:r>
              <a:rPr sz="1700" b="1">
                <a:solidFill>
                  <a:srgbClr val="142B45"/>
                </a:solidFill>
                <a:latin typeface="Calibri"/>
              </a:rPr>
              <a:t>Room types (read-only)</a:t>
            </a:r>
          </a:p>
        </p:txBody>
      </p:sp>
      <p:sp>
        <p:nvSpPr>
          <p:cNvPr id="10" name="TextBox 9"/>
          <p:cNvSpPr txBox="1"/>
          <p:nvPr/>
        </p:nvSpPr>
        <p:spPr>
          <a:xfrm>
            <a:off x="777240" y="2121408"/>
            <a:ext cx="5120640" cy="1737360"/>
          </a:xfrm>
          <a:prstGeom prst="rect">
            <a:avLst/>
          </a:prstGeom>
          <a:noFill/>
        </p:spPr>
        <p:txBody>
          <a:bodyPr wrap="square" anchor="t">
            <a:spAutoFit/>
          </a:bodyPr>
          <a:lstStyle/>
          <a:p>
            <a:pPr algn="l"/>
            <a:r>
              <a:rPr sz="1400" b="0">
                <a:solidFill>
                  <a:srgbClr val="222B35"/>
                </a:solidFill>
                <a:latin typeface="Calibri"/>
              </a:rPr>
              <a:t>Name, code, maximum occupancy, base rate and turnaround target in minutes. The backend DTO gained slaMinutes. Seeded targets: 45 minutes by default, 75 for Suite and Family. No editing, because who may change targets is still an open question.</a:t>
            </a:r>
          </a:p>
        </p:txBody>
      </p:sp>
      <p:sp>
        <p:nvSpPr>
          <p:cNvPr id="11" name="Rectangle 10"/>
          <p:cNvSpPr/>
          <p:nvPr/>
        </p:nvSpPr>
        <p:spPr>
          <a:xfrm>
            <a:off x="6309360" y="1554480"/>
            <a:ext cx="5303520" cy="237744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554480"/>
            <a:ext cx="82296" cy="237744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60" y="1645920"/>
            <a:ext cx="4937759" cy="457200"/>
          </a:xfrm>
          <a:prstGeom prst="rect">
            <a:avLst/>
          </a:prstGeom>
          <a:noFill/>
        </p:spPr>
        <p:txBody>
          <a:bodyPr wrap="square" anchor="t">
            <a:spAutoFit/>
          </a:bodyPr>
          <a:lstStyle/>
          <a:p>
            <a:pPr algn="l"/>
            <a:r>
              <a:rPr sz="1700" b="1">
                <a:solidFill>
                  <a:srgbClr val="142B45"/>
                </a:solidFill>
                <a:latin typeface="Calibri"/>
              </a:rPr>
              <a:t>Live board</a:t>
            </a:r>
          </a:p>
        </p:txBody>
      </p:sp>
      <p:sp>
        <p:nvSpPr>
          <p:cNvPr id="14" name="TextBox 13"/>
          <p:cNvSpPr txBox="1"/>
          <p:nvPr/>
        </p:nvSpPr>
        <p:spPr>
          <a:xfrm>
            <a:off x="6537960" y="2121408"/>
            <a:ext cx="4937759" cy="1737360"/>
          </a:xfrm>
          <a:prstGeom prst="rect">
            <a:avLst/>
          </a:prstGeom>
          <a:noFill/>
        </p:spPr>
        <p:txBody>
          <a:bodyPr wrap="square" anchor="t">
            <a:spAutoFit/>
          </a:bodyPr>
          <a:lstStyle/>
          <a:p>
            <a:pPr algn="l"/>
            <a:r>
              <a:rPr sz="1400" b="0">
                <a:solidFill>
                  <a:srgbClr val="222B35"/>
                </a:solidFill>
                <a:latin typeface="Calibri"/>
              </a:rPr>
              <a:t>useBoardHub connects to /hubs/board over SignalR, reports connecting, live or reconnecting, and re-fetches when a room is updated, so the screen refreshes without anyone pressing a button.</a:t>
            </a:r>
          </a:p>
        </p:txBody>
      </p:sp>
      <p:sp>
        <p:nvSpPr>
          <p:cNvPr id="15" name="Rectangle 14"/>
          <p:cNvSpPr/>
          <p:nvPr/>
        </p:nvSpPr>
        <p:spPr>
          <a:xfrm>
            <a:off x="548640" y="4160520"/>
            <a:ext cx="1106424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160520"/>
            <a:ext cx="82296" cy="2011680"/>
          </a:xfrm>
          <a:prstGeom prst="rect">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251959"/>
            <a:ext cx="10698480" cy="457200"/>
          </a:xfrm>
          <a:prstGeom prst="rect">
            <a:avLst/>
          </a:prstGeom>
          <a:noFill/>
        </p:spPr>
        <p:txBody>
          <a:bodyPr wrap="square" anchor="t">
            <a:spAutoFit/>
          </a:bodyPr>
          <a:lstStyle/>
          <a:p>
            <a:pPr algn="l"/>
            <a:r>
              <a:rPr sz="1700" b="1">
                <a:solidFill>
                  <a:srgbClr val="142B45"/>
                </a:solidFill>
                <a:latin typeface="Calibri"/>
              </a:rPr>
              <a:t>Consistent loading, empty and error handling</a:t>
            </a:r>
          </a:p>
        </p:txBody>
      </p:sp>
      <p:sp>
        <p:nvSpPr>
          <p:cNvPr id="18" name="TextBox 17"/>
          <p:cNvSpPr txBox="1"/>
          <p:nvPr/>
        </p:nvSpPr>
        <p:spPr>
          <a:xfrm>
            <a:off x="777240" y="4727448"/>
            <a:ext cx="10698480" cy="1371600"/>
          </a:xfrm>
          <a:prstGeom prst="rect">
            <a:avLst/>
          </a:prstGeom>
          <a:noFill/>
        </p:spPr>
        <p:txBody>
          <a:bodyPr wrap="square" anchor="t">
            <a:spAutoFit/>
          </a:bodyPr>
          <a:lstStyle/>
          <a:p>
            <a:pPr algn="l"/>
            <a:r>
              <a:rPr sz="1500" b="0">
                <a:solidFill>
                  <a:srgbClr val="222B35"/>
                </a:solidFill>
                <a:latin typeface="Calibri"/>
              </a:rPr>
              <a:t>All pages go through StateView with the useAsync hook and a specific empty message. HTTP goes only through src/api/client.ts (getJson, ApiError), so errors look and retry the same way everywhere.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What is MCP?</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Model Context Protocol: an open standard for connecting AI assistants to tools and data</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10</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3566160" cy="22860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82296" cy="2286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3200400" cy="457200"/>
          </a:xfrm>
          <a:prstGeom prst="rect">
            <a:avLst/>
          </a:prstGeom>
          <a:noFill/>
        </p:spPr>
        <p:txBody>
          <a:bodyPr wrap="square" anchor="t">
            <a:spAutoFit/>
          </a:bodyPr>
          <a:lstStyle/>
          <a:p>
            <a:pPr algn="l"/>
            <a:r>
              <a:rPr sz="1700" b="1">
                <a:solidFill>
                  <a:srgbClr val="142B45"/>
                </a:solidFill>
                <a:latin typeface="Calibri"/>
              </a:rPr>
              <a:t>The idea</a:t>
            </a:r>
          </a:p>
        </p:txBody>
      </p:sp>
      <p:sp>
        <p:nvSpPr>
          <p:cNvPr id="11" name="TextBox 10"/>
          <p:cNvSpPr txBox="1"/>
          <p:nvPr/>
        </p:nvSpPr>
        <p:spPr>
          <a:xfrm>
            <a:off x="777240" y="2395728"/>
            <a:ext cx="3200400" cy="1645920"/>
          </a:xfrm>
          <a:prstGeom prst="rect">
            <a:avLst/>
          </a:prstGeom>
          <a:noFill/>
        </p:spPr>
        <p:txBody>
          <a:bodyPr wrap="square" anchor="t">
            <a:spAutoFit/>
          </a:bodyPr>
          <a:lstStyle/>
          <a:p>
            <a:pPr algn="l"/>
            <a:r>
              <a:rPr sz="1500" b="0">
                <a:solidFill>
                  <a:srgbClr val="222B35"/>
                </a:solidFill>
                <a:latin typeface="Calibri"/>
              </a:rPr>
              <a:t>One common protocol so any AI client can discover and call tools exposed by a server. Think of it as USB-C for AI tools.</a:t>
            </a:r>
          </a:p>
        </p:txBody>
      </p:sp>
      <p:sp>
        <p:nvSpPr>
          <p:cNvPr id="12" name="Rectangle 11"/>
          <p:cNvSpPr/>
          <p:nvPr/>
        </p:nvSpPr>
        <p:spPr>
          <a:xfrm>
            <a:off x="4297680" y="1828800"/>
            <a:ext cx="3566160" cy="22860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28800"/>
            <a:ext cx="82296" cy="2286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920240"/>
            <a:ext cx="3200400" cy="457200"/>
          </a:xfrm>
          <a:prstGeom prst="rect">
            <a:avLst/>
          </a:prstGeom>
          <a:noFill/>
        </p:spPr>
        <p:txBody>
          <a:bodyPr wrap="square" anchor="t">
            <a:spAutoFit/>
          </a:bodyPr>
          <a:lstStyle/>
          <a:p>
            <a:pPr algn="l"/>
            <a:r>
              <a:rPr sz="1700" b="1">
                <a:solidFill>
                  <a:srgbClr val="142B45"/>
                </a:solidFill>
                <a:latin typeface="Calibri"/>
              </a:rPr>
              <a:t>The pieces</a:t>
            </a:r>
          </a:p>
        </p:txBody>
      </p:sp>
      <p:sp>
        <p:nvSpPr>
          <p:cNvPr id="15" name="TextBox 14"/>
          <p:cNvSpPr txBox="1"/>
          <p:nvPr/>
        </p:nvSpPr>
        <p:spPr>
          <a:xfrm>
            <a:off x="4526280" y="2395728"/>
            <a:ext cx="3200400" cy="1645920"/>
          </a:xfrm>
          <a:prstGeom prst="rect">
            <a:avLst/>
          </a:prstGeom>
          <a:noFill/>
        </p:spPr>
        <p:txBody>
          <a:bodyPr wrap="square" anchor="t">
            <a:spAutoFit/>
          </a:bodyPr>
          <a:lstStyle/>
          <a:p>
            <a:pPr algn="l"/>
            <a:r>
              <a:rPr sz="1500" b="0">
                <a:solidFill>
                  <a:srgbClr val="222B35"/>
                </a:solidFill>
                <a:latin typeface="Calibri"/>
              </a:rPr>
              <a:t>A host (the AI app) runs a client. The client talks to an MCP server over stdio or HTTP. The server advertises tools with typed inputs.</a:t>
            </a:r>
          </a:p>
        </p:txBody>
      </p:sp>
      <p:sp>
        <p:nvSpPr>
          <p:cNvPr id="16" name="Rectangle 15"/>
          <p:cNvSpPr/>
          <p:nvPr/>
        </p:nvSpPr>
        <p:spPr>
          <a:xfrm>
            <a:off x="8046720" y="1828800"/>
            <a:ext cx="3566160" cy="22860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828800"/>
            <a:ext cx="82296" cy="22860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20240"/>
            <a:ext cx="3200400" cy="457200"/>
          </a:xfrm>
          <a:prstGeom prst="rect">
            <a:avLst/>
          </a:prstGeom>
          <a:noFill/>
        </p:spPr>
        <p:txBody>
          <a:bodyPr wrap="square" anchor="t">
            <a:spAutoFit/>
          </a:bodyPr>
          <a:lstStyle/>
          <a:p>
            <a:pPr algn="l"/>
            <a:r>
              <a:rPr sz="1700" b="1">
                <a:solidFill>
                  <a:srgbClr val="142B45"/>
                </a:solidFill>
                <a:latin typeface="Calibri"/>
              </a:rPr>
              <a:t>Why use it</a:t>
            </a:r>
          </a:p>
        </p:txBody>
      </p:sp>
      <p:sp>
        <p:nvSpPr>
          <p:cNvPr id="19" name="TextBox 18"/>
          <p:cNvSpPr txBox="1"/>
          <p:nvPr/>
        </p:nvSpPr>
        <p:spPr>
          <a:xfrm>
            <a:off x="8275320" y="2395728"/>
            <a:ext cx="3200400" cy="1645920"/>
          </a:xfrm>
          <a:prstGeom prst="rect">
            <a:avLst/>
          </a:prstGeom>
          <a:noFill/>
        </p:spPr>
        <p:txBody>
          <a:bodyPr wrap="square" anchor="t">
            <a:spAutoFit/>
          </a:bodyPr>
          <a:lstStyle/>
          <a:p>
            <a:pPr algn="l"/>
            <a:r>
              <a:rPr sz="1500" b="0">
                <a:solidFill>
                  <a:srgbClr val="222B35"/>
                </a:solidFill>
                <a:latin typeface="Calibri"/>
              </a:rPr>
              <a:t>The model gets live, structured answers instead of guessing, and we choose exactly what it may touch.</a:t>
            </a:r>
          </a:p>
        </p:txBody>
      </p:sp>
      <p:sp>
        <p:nvSpPr>
          <p:cNvPr id="20" name="Rounded Rectangle 19"/>
          <p:cNvSpPr/>
          <p:nvPr/>
        </p:nvSpPr>
        <p:spPr>
          <a:xfrm>
            <a:off x="548640" y="4572000"/>
            <a:ext cx="2606040" cy="1005840"/>
          </a:xfrm>
          <a:prstGeom prst="round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572000"/>
            <a:ext cx="2606040" cy="1005840"/>
          </a:xfrm>
          <a:prstGeom prst="rect">
            <a:avLst/>
          </a:prstGeom>
          <a:noFill/>
        </p:spPr>
        <p:txBody>
          <a:bodyPr wrap="square" anchor="ctr">
            <a:spAutoFit/>
          </a:bodyPr>
          <a:lstStyle/>
          <a:p>
            <a:pPr algn="ctr"/>
            <a:r>
              <a:rPr sz="1500" b="1">
                <a:solidFill>
                  <a:srgbClr val="FFFFFF"/>
                </a:solidFill>
                <a:latin typeface="Calibri"/>
              </a:rPr>
              <a:t>AI host / client</a:t>
            </a:r>
          </a:p>
        </p:txBody>
      </p:sp>
      <p:sp>
        <p:nvSpPr>
          <p:cNvPr id="22" name="TextBox 21"/>
          <p:cNvSpPr txBox="1"/>
          <p:nvPr/>
        </p:nvSpPr>
        <p:spPr>
          <a:xfrm>
            <a:off x="3127248" y="4800600"/>
            <a:ext cx="365760" cy="457200"/>
          </a:xfrm>
          <a:prstGeom prst="rect">
            <a:avLst/>
          </a:prstGeom>
          <a:noFill/>
        </p:spPr>
        <p:txBody>
          <a:bodyPr wrap="square" anchor="t">
            <a:spAutoFit/>
          </a:bodyPr>
          <a:lstStyle/>
          <a:p>
            <a:pPr algn="l"/>
            <a:r>
              <a:rPr sz="2600" b="1">
                <a:solidFill>
                  <a:srgbClr val="6B7785"/>
                </a:solidFill>
                <a:latin typeface="Calibri"/>
              </a:rPr>
              <a:t>›</a:t>
            </a:r>
          </a:p>
        </p:txBody>
      </p:sp>
      <p:sp>
        <p:nvSpPr>
          <p:cNvPr id="23" name="Rounded Rectangle 22"/>
          <p:cNvSpPr/>
          <p:nvPr/>
        </p:nvSpPr>
        <p:spPr>
          <a:xfrm>
            <a:off x="3429000" y="4572000"/>
            <a:ext cx="2606040" cy="1005840"/>
          </a:xfrm>
          <a:prstGeom prst="round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29000" y="4572000"/>
            <a:ext cx="2606040" cy="1005840"/>
          </a:xfrm>
          <a:prstGeom prst="rect">
            <a:avLst/>
          </a:prstGeom>
          <a:noFill/>
        </p:spPr>
        <p:txBody>
          <a:bodyPr wrap="square" anchor="ctr">
            <a:spAutoFit/>
          </a:bodyPr>
          <a:lstStyle/>
          <a:p>
            <a:pPr algn="ctr"/>
            <a:r>
              <a:rPr sz="1500" b="1">
                <a:solidFill>
                  <a:srgbClr val="FFFFFF"/>
                </a:solidFill>
                <a:latin typeface="Calibri"/>
              </a:rPr>
              <a:t>MCP protocol (stdio)</a:t>
            </a:r>
          </a:p>
        </p:txBody>
      </p:sp>
      <p:sp>
        <p:nvSpPr>
          <p:cNvPr id="25" name="TextBox 24"/>
          <p:cNvSpPr txBox="1"/>
          <p:nvPr/>
        </p:nvSpPr>
        <p:spPr>
          <a:xfrm>
            <a:off x="6007608" y="4800600"/>
            <a:ext cx="365760" cy="457200"/>
          </a:xfrm>
          <a:prstGeom prst="rect">
            <a:avLst/>
          </a:prstGeom>
          <a:noFill/>
        </p:spPr>
        <p:txBody>
          <a:bodyPr wrap="square" anchor="t">
            <a:spAutoFit/>
          </a:bodyPr>
          <a:lstStyle/>
          <a:p>
            <a:pPr algn="l"/>
            <a:r>
              <a:rPr sz="2600" b="1">
                <a:solidFill>
                  <a:srgbClr val="6B7785"/>
                </a:solidFill>
                <a:latin typeface="Calibri"/>
              </a:rPr>
              <a:t>›</a:t>
            </a:r>
          </a:p>
        </p:txBody>
      </p:sp>
      <p:sp>
        <p:nvSpPr>
          <p:cNvPr id="26" name="Rounded Rectangle 25"/>
          <p:cNvSpPr/>
          <p:nvPr/>
        </p:nvSpPr>
        <p:spPr>
          <a:xfrm>
            <a:off x="6309359" y="4572000"/>
            <a:ext cx="2606040" cy="1005840"/>
          </a:xfrm>
          <a:prstGeom prst="round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59" y="4572000"/>
            <a:ext cx="2606040" cy="1005840"/>
          </a:xfrm>
          <a:prstGeom prst="rect">
            <a:avLst/>
          </a:prstGeom>
          <a:noFill/>
        </p:spPr>
        <p:txBody>
          <a:bodyPr wrap="square" anchor="ctr">
            <a:spAutoFit/>
          </a:bodyPr>
          <a:lstStyle/>
          <a:p>
            <a:pPr algn="ctr"/>
            <a:r>
              <a:rPr sz="1500" b="1">
                <a:solidFill>
                  <a:srgbClr val="FFFFFF"/>
                </a:solidFill>
                <a:latin typeface="Calibri"/>
              </a:rPr>
              <a:t>Larchmont MCP server</a:t>
            </a:r>
          </a:p>
        </p:txBody>
      </p:sp>
      <p:sp>
        <p:nvSpPr>
          <p:cNvPr id="28" name="TextBox 27"/>
          <p:cNvSpPr txBox="1"/>
          <p:nvPr/>
        </p:nvSpPr>
        <p:spPr>
          <a:xfrm>
            <a:off x="8887967" y="4800600"/>
            <a:ext cx="365760" cy="457200"/>
          </a:xfrm>
          <a:prstGeom prst="rect">
            <a:avLst/>
          </a:prstGeom>
          <a:noFill/>
        </p:spPr>
        <p:txBody>
          <a:bodyPr wrap="square" anchor="t">
            <a:spAutoFit/>
          </a:bodyPr>
          <a:lstStyle/>
          <a:p>
            <a:pPr algn="l"/>
            <a:r>
              <a:rPr sz="2600" b="1">
                <a:solidFill>
                  <a:srgbClr val="6B7785"/>
                </a:solidFill>
                <a:latin typeface="Calibri"/>
              </a:rPr>
              <a:t>›</a:t>
            </a:r>
          </a:p>
        </p:txBody>
      </p:sp>
      <p:sp>
        <p:nvSpPr>
          <p:cNvPr id="29" name="Rounded Rectangle 28"/>
          <p:cNvSpPr/>
          <p:nvPr/>
        </p:nvSpPr>
        <p:spPr>
          <a:xfrm>
            <a:off x="9189719" y="4572000"/>
            <a:ext cx="2606040" cy="1005840"/>
          </a:xfrm>
          <a:prstGeom prst="round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9719" y="4572000"/>
            <a:ext cx="2606040" cy="1005840"/>
          </a:xfrm>
          <a:prstGeom prst="rect">
            <a:avLst/>
          </a:prstGeom>
          <a:noFill/>
        </p:spPr>
        <p:txBody>
          <a:bodyPr wrap="square" anchor="ctr">
            <a:spAutoFit/>
          </a:bodyPr>
          <a:lstStyle/>
          <a:p>
            <a:pPr algn="ctr"/>
            <a:r>
              <a:rPr sz="1500" b="1">
                <a:solidFill>
                  <a:srgbClr val="FFFFFF"/>
                </a:solidFill>
                <a:latin typeface="Calibri"/>
              </a:rPr>
              <a:t>MySQL views</a:t>
            </a:r>
          </a:p>
        </p:txBody>
      </p:sp>
      <p:sp>
        <p:nvSpPr>
          <p:cNvPr id="31" name="TextBox 30"/>
          <p:cNvSpPr txBox="1"/>
          <p:nvPr/>
        </p:nvSpPr>
        <p:spPr>
          <a:xfrm>
            <a:off x="548640" y="5760720"/>
            <a:ext cx="10972800" cy="457200"/>
          </a:xfrm>
          <a:prstGeom prst="rect">
            <a:avLst/>
          </a:prstGeom>
          <a:noFill/>
        </p:spPr>
        <p:txBody>
          <a:bodyPr wrap="square" anchor="t">
            <a:spAutoFit/>
          </a:bodyPr>
          <a:lstStyle/>
          <a:p>
            <a:pPr algn="l"/>
            <a:r>
              <a:rPr sz="1300" b="0">
                <a:solidFill>
                  <a:srgbClr val="6B7785"/>
                </a:solidFill>
                <a:latin typeface="Calibri"/>
              </a:rPr>
              <a:t>Our server is registered in .mcp.json as "larchmont" and started with node mcp/dist/index.js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Our MCP server: Larchmont</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mcp/ (TypeScript, @modelcontextprotocol/sdk, stdio). Five tools, read-only.</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11</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658368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82296" cy="74980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65376"/>
            <a:ext cx="6309360" cy="365760"/>
          </a:xfrm>
          <a:prstGeom prst="rect">
            <a:avLst/>
          </a:prstGeom>
          <a:noFill/>
        </p:spPr>
        <p:txBody>
          <a:bodyPr wrap="square" anchor="t">
            <a:spAutoFit/>
          </a:bodyPr>
          <a:lstStyle/>
          <a:p>
            <a:pPr algn="l"/>
            <a:r>
              <a:rPr sz="1500" b="1">
                <a:solidFill>
                  <a:srgbClr val="142B45"/>
                </a:solidFill>
                <a:latin typeface="Calibri"/>
              </a:rPr>
              <a:t>rooms_breaching_sla</a:t>
            </a:r>
          </a:p>
        </p:txBody>
      </p:sp>
      <p:sp>
        <p:nvSpPr>
          <p:cNvPr id="11" name="TextBox 10"/>
          <p:cNvSpPr txBox="1"/>
          <p:nvPr/>
        </p:nvSpPr>
        <p:spPr>
          <a:xfrm>
            <a:off x="777240" y="2212848"/>
            <a:ext cx="6309360" cy="365760"/>
          </a:xfrm>
          <a:prstGeom prst="rect">
            <a:avLst/>
          </a:prstGeom>
          <a:noFill/>
        </p:spPr>
        <p:txBody>
          <a:bodyPr wrap="square" anchor="t">
            <a:spAutoFit/>
          </a:bodyPr>
          <a:lstStyle/>
          <a:p>
            <a:pPr algn="l"/>
            <a:r>
              <a:rPr sz="1200" b="0">
                <a:solidFill>
                  <a:srgbClr val="222B35"/>
                </a:solidFill>
                <a:latin typeface="Calibri"/>
              </a:rPr>
              <a:t>Rooms past their turnaround target, worst first</a:t>
            </a:r>
          </a:p>
        </p:txBody>
      </p:sp>
      <p:sp>
        <p:nvSpPr>
          <p:cNvPr id="12" name="Rectangle 11"/>
          <p:cNvSpPr/>
          <p:nvPr/>
        </p:nvSpPr>
        <p:spPr>
          <a:xfrm>
            <a:off x="548640" y="2697480"/>
            <a:ext cx="658368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697480"/>
            <a:ext cx="82296" cy="74980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734056"/>
            <a:ext cx="6309360" cy="365760"/>
          </a:xfrm>
          <a:prstGeom prst="rect">
            <a:avLst/>
          </a:prstGeom>
          <a:noFill/>
        </p:spPr>
        <p:txBody>
          <a:bodyPr wrap="square" anchor="t">
            <a:spAutoFit/>
          </a:bodyPr>
          <a:lstStyle/>
          <a:p>
            <a:pPr algn="l"/>
            <a:r>
              <a:rPr sz="1500" b="1">
                <a:solidFill>
                  <a:srgbClr val="142B45"/>
                </a:solidFill>
                <a:latin typeface="Calibri"/>
              </a:rPr>
              <a:t>ooo_impact_on_occupancy</a:t>
            </a:r>
          </a:p>
        </p:txBody>
      </p:sp>
      <p:sp>
        <p:nvSpPr>
          <p:cNvPr id="15" name="TextBox 14"/>
          <p:cNvSpPr txBox="1"/>
          <p:nvPr/>
        </p:nvSpPr>
        <p:spPr>
          <a:xfrm>
            <a:off x="777240" y="3081528"/>
            <a:ext cx="6309360" cy="365760"/>
          </a:xfrm>
          <a:prstGeom prst="rect">
            <a:avLst/>
          </a:prstGeom>
          <a:noFill/>
        </p:spPr>
        <p:txBody>
          <a:bodyPr wrap="square" anchor="t">
            <a:spAutoFit/>
          </a:bodyPr>
          <a:lstStyle/>
          <a:p>
            <a:pPr algn="l"/>
            <a:r>
              <a:rPr sz="1200" b="0">
                <a:solidFill>
                  <a:srgbClr val="222B35"/>
                </a:solidFill>
                <a:latin typeface="Calibri"/>
              </a:rPr>
              <a:t>How out-of-order rooms reduce sellable rooms</a:t>
            </a:r>
          </a:p>
        </p:txBody>
      </p:sp>
      <p:sp>
        <p:nvSpPr>
          <p:cNvPr id="16" name="Rectangle 15"/>
          <p:cNvSpPr/>
          <p:nvPr/>
        </p:nvSpPr>
        <p:spPr>
          <a:xfrm>
            <a:off x="548640" y="3566160"/>
            <a:ext cx="658368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566160"/>
            <a:ext cx="82296" cy="74980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602736"/>
            <a:ext cx="6309360" cy="365760"/>
          </a:xfrm>
          <a:prstGeom prst="rect">
            <a:avLst/>
          </a:prstGeom>
          <a:noFill/>
        </p:spPr>
        <p:txBody>
          <a:bodyPr wrap="square" anchor="t">
            <a:spAutoFit/>
          </a:bodyPr>
          <a:lstStyle/>
          <a:p>
            <a:pPr algn="l"/>
            <a:r>
              <a:rPr sz="1500" b="1">
                <a:solidFill>
                  <a:srgbClr val="142B45"/>
                </a:solidFill>
                <a:latin typeface="Calibri"/>
              </a:rPr>
              <a:t>housekeeper_load</a:t>
            </a:r>
          </a:p>
        </p:txBody>
      </p:sp>
      <p:sp>
        <p:nvSpPr>
          <p:cNvPr id="19" name="TextBox 18"/>
          <p:cNvSpPr txBox="1"/>
          <p:nvPr/>
        </p:nvSpPr>
        <p:spPr>
          <a:xfrm>
            <a:off x="777240" y="3950208"/>
            <a:ext cx="6309360" cy="365760"/>
          </a:xfrm>
          <a:prstGeom prst="rect">
            <a:avLst/>
          </a:prstGeom>
          <a:noFill/>
        </p:spPr>
        <p:txBody>
          <a:bodyPr wrap="square" anchor="t">
            <a:spAutoFit/>
          </a:bodyPr>
          <a:lstStyle/>
          <a:p>
            <a:pPr algn="l"/>
            <a:r>
              <a:rPr sz="1200" b="0">
                <a:solidFill>
                  <a:srgbClr val="222B35"/>
                </a:solidFill>
                <a:latin typeface="Calibri"/>
              </a:rPr>
              <a:t>Rooms assigned and completed per housekeeper</a:t>
            </a:r>
          </a:p>
        </p:txBody>
      </p:sp>
      <p:sp>
        <p:nvSpPr>
          <p:cNvPr id="20" name="Rectangle 19"/>
          <p:cNvSpPr/>
          <p:nvPr/>
        </p:nvSpPr>
        <p:spPr>
          <a:xfrm>
            <a:off x="548640" y="4434840"/>
            <a:ext cx="658368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434840"/>
            <a:ext cx="82296" cy="74980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4471416"/>
            <a:ext cx="6309360" cy="365760"/>
          </a:xfrm>
          <a:prstGeom prst="rect">
            <a:avLst/>
          </a:prstGeom>
          <a:noFill/>
        </p:spPr>
        <p:txBody>
          <a:bodyPr wrap="square" anchor="t">
            <a:spAutoFit/>
          </a:bodyPr>
          <a:lstStyle/>
          <a:p>
            <a:pPr algn="l"/>
            <a:r>
              <a:rPr sz="1500" b="1">
                <a:solidFill>
                  <a:srgbClr val="142B45"/>
                </a:solidFill>
                <a:latin typeface="Calibri"/>
              </a:rPr>
              <a:t>arrivals_without_ready_room</a:t>
            </a:r>
          </a:p>
        </p:txBody>
      </p:sp>
      <p:sp>
        <p:nvSpPr>
          <p:cNvPr id="23" name="TextBox 22"/>
          <p:cNvSpPr txBox="1"/>
          <p:nvPr/>
        </p:nvSpPr>
        <p:spPr>
          <a:xfrm>
            <a:off x="777240" y="4818888"/>
            <a:ext cx="6309360" cy="365760"/>
          </a:xfrm>
          <a:prstGeom prst="rect">
            <a:avLst/>
          </a:prstGeom>
          <a:noFill/>
        </p:spPr>
        <p:txBody>
          <a:bodyPr wrap="square" anchor="t">
            <a:spAutoFit/>
          </a:bodyPr>
          <a:lstStyle/>
          <a:p>
            <a:pPr algn="l"/>
            <a:r>
              <a:rPr sz="1200" b="0">
                <a:solidFill>
                  <a:srgbClr val="222B35"/>
                </a:solidFill>
                <a:latin typeface="Calibri"/>
              </a:rPr>
              <a:t>Arrivals with no Ready room of their type</a:t>
            </a:r>
          </a:p>
        </p:txBody>
      </p:sp>
      <p:sp>
        <p:nvSpPr>
          <p:cNvPr id="24" name="Rectangle 23"/>
          <p:cNvSpPr/>
          <p:nvPr/>
        </p:nvSpPr>
        <p:spPr>
          <a:xfrm>
            <a:off x="548640" y="5303520"/>
            <a:ext cx="6583680" cy="749808"/>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303520"/>
            <a:ext cx="82296" cy="749808"/>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5340096"/>
            <a:ext cx="6309360" cy="365760"/>
          </a:xfrm>
          <a:prstGeom prst="rect">
            <a:avLst/>
          </a:prstGeom>
          <a:noFill/>
        </p:spPr>
        <p:txBody>
          <a:bodyPr wrap="square" anchor="t">
            <a:spAutoFit/>
          </a:bodyPr>
          <a:lstStyle/>
          <a:p>
            <a:pPr algn="l"/>
            <a:r>
              <a:rPr sz="1500" b="1">
                <a:solidFill>
                  <a:srgbClr val="142B45"/>
                </a:solidFill>
                <a:latin typeface="Calibri"/>
              </a:rPr>
              <a:t>run_readonly_query</a:t>
            </a:r>
          </a:p>
        </p:txBody>
      </p:sp>
      <p:sp>
        <p:nvSpPr>
          <p:cNvPr id="27" name="TextBox 26"/>
          <p:cNvSpPr txBox="1"/>
          <p:nvPr/>
        </p:nvSpPr>
        <p:spPr>
          <a:xfrm>
            <a:off x="777240" y="5687568"/>
            <a:ext cx="6309360" cy="365760"/>
          </a:xfrm>
          <a:prstGeom prst="rect">
            <a:avLst/>
          </a:prstGeom>
          <a:noFill/>
        </p:spPr>
        <p:txBody>
          <a:bodyPr wrap="square" anchor="t">
            <a:spAutoFit/>
          </a:bodyPr>
          <a:lstStyle/>
          <a:p>
            <a:pPr algn="l"/>
            <a:r>
              <a:rPr sz="1200" b="0">
                <a:solidFill>
                  <a:srgbClr val="222B35"/>
                </a:solidFill>
                <a:latin typeface="Calibri"/>
              </a:rPr>
              <a:t>Guarded free-form SELECT for managers</a:t>
            </a:r>
          </a:p>
        </p:txBody>
      </p:sp>
      <p:sp>
        <p:nvSpPr>
          <p:cNvPr id="28" name="TextBox 27"/>
          <p:cNvSpPr txBox="1"/>
          <p:nvPr/>
        </p:nvSpPr>
        <p:spPr>
          <a:xfrm>
            <a:off x="7498079" y="1828800"/>
            <a:ext cx="4114800" cy="457200"/>
          </a:xfrm>
          <a:prstGeom prst="rect">
            <a:avLst/>
          </a:prstGeom>
          <a:noFill/>
        </p:spPr>
        <p:txBody>
          <a:bodyPr wrap="square" anchor="t">
            <a:spAutoFit/>
          </a:bodyPr>
          <a:lstStyle/>
          <a:p>
            <a:pPr algn="l"/>
            <a:r>
              <a:rPr sz="2000" b="1">
                <a:solidFill>
                  <a:srgbClr val="142B45"/>
                </a:solidFill>
                <a:latin typeface="Calibri"/>
              </a:rPr>
              <a:t>Safety by design</a:t>
            </a:r>
          </a:p>
        </p:txBody>
      </p:sp>
      <p:sp>
        <p:nvSpPr>
          <p:cNvPr id="29" name="TextBox 28"/>
          <p:cNvSpPr txBox="1"/>
          <p:nvPr/>
        </p:nvSpPr>
        <p:spPr>
          <a:xfrm>
            <a:off x="7498079" y="2331720"/>
            <a:ext cx="4206240" cy="3931920"/>
          </a:xfrm>
          <a:prstGeom prst="rect">
            <a:avLst/>
          </a:prstGeom>
          <a:noFill/>
        </p:spPr>
        <p:txBody>
          <a:bodyPr wrap="square">
            <a:spAutoFit/>
          </a:bodyPr>
          <a:lstStyle/>
          <a:p>
            <a:pPr>
              <a:spcAft>
                <a:spcPts val="600"/>
              </a:spcAft>
            </a:pPr>
            <a:r>
              <a:rPr sz="1400">
                <a:solidFill>
                  <a:srgbClr val="222B35"/>
                </a:solidFill>
                <a:latin typeface="Calibri"/>
              </a:rPr>
              <a:t>•  Connects only as mcp_readonly, SELECT on five views</a:t>
            </a:r>
          </a:p>
          <a:p>
            <a:pPr>
              <a:spcAft>
                <a:spcPts val="600"/>
              </a:spcAft>
            </a:pPr>
            <a:r>
              <a:rPr sz="1400">
                <a:solidFill>
                  <a:srgbClr val="222B35"/>
                </a:solidFill>
                <a:latin typeface="Calibri"/>
              </a:rPr>
              <a:t>•  Views hold no guest data, contact details or free text</a:t>
            </a:r>
          </a:p>
          <a:p>
            <a:pPr>
              <a:spcAft>
                <a:spcPts val="600"/>
              </a:spcAft>
            </a:pPr>
            <a:r>
              <a:rPr sz="1400">
                <a:solidFill>
                  <a:srgbClr val="222B35"/>
                </a:solidFill>
                <a:latin typeface="Calibri"/>
              </a:rPr>
              <a:t>•  SQL guard allows SELECT only</a:t>
            </a:r>
          </a:p>
          <a:p>
            <a:pPr>
              <a:spcAft>
                <a:spcPts val="600"/>
              </a:spcAft>
            </a:pPr>
            <a:r>
              <a:rPr sz="1400">
                <a:solidFill>
                  <a:srgbClr val="222B35"/>
                </a:solidFill>
                <a:latin typeface="Calibri"/>
              </a:rPr>
              <a:t>•  10 second timeout, 10,000 row cap</a:t>
            </a:r>
          </a:p>
          <a:p>
            <a:pPr>
              <a:spcAft>
                <a:spcPts val="600"/>
              </a:spcAft>
            </a:pPr>
            <a:r>
              <a:rPr sz="1400">
                <a:solidFill>
                  <a:srgbClr val="222B35"/>
                </a:solidFill>
                <a:latin typeface="Calibri"/>
              </a:rPr>
              <a:t>•  Every call written to an audit log</a:t>
            </a:r>
          </a:p>
          <a:p>
            <a:pPr>
              <a:spcAft>
                <a:spcPts val="600"/>
              </a:spcAft>
            </a:pPr>
            <a:r>
              <a:rPr sz="1400">
                <a:solidFill>
                  <a:srgbClr val="222B35"/>
                </a:solidFill>
                <a:latin typeface="Calibri"/>
              </a:rPr>
              <a:t>•  No write tool at all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How we used MCP in the UI</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The Assistant page turns a question into one of the five tools</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12</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26517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2377440" cy="457200"/>
          </a:xfrm>
          <a:prstGeom prst="rect">
            <a:avLst/>
          </a:prstGeom>
          <a:noFill/>
        </p:spPr>
        <p:txBody>
          <a:bodyPr wrap="square" anchor="t">
            <a:spAutoFit/>
          </a:bodyPr>
          <a:lstStyle/>
          <a:p>
            <a:pPr algn="l"/>
            <a:r>
              <a:rPr sz="1600" b="1">
                <a:solidFill>
                  <a:srgbClr val="142B45"/>
                </a:solidFill>
                <a:latin typeface="Calibri"/>
              </a:rPr>
              <a:t>Sofia asks</a:t>
            </a:r>
          </a:p>
        </p:txBody>
      </p:sp>
      <p:sp>
        <p:nvSpPr>
          <p:cNvPr id="11" name="TextBox 10"/>
          <p:cNvSpPr txBox="1"/>
          <p:nvPr/>
        </p:nvSpPr>
        <p:spPr>
          <a:xfrm>
            <a:off x="685800" y="2606040"/>
            <a:ext cx="2377440" cy="1280160"/>
          </a:xfrm>
          <a:prstGeom prst="rect">
            <a:avLst/>
          </a:prstGeom>
          <a:noFill/>
        </p:spPr>
        <p:txBody>
          <a:bodyPr wrap="square" anchor="t">
            <a:spAutoFit/>
          </a:bodyPr>
          <a:lstStyle/>
          <a:p>
            <a:pPr algn="l"/>
            <a:r>
              <a:rPr sz="1300" b="0">
                <a:solidFill>
                  <a:srgbClr val="222B35"/>
                </a:solidFill>
                <a:latin typeface="Calibri"/>
              </a:rPr>
              <a:t>"Check late rooms breaching SLA", typed or from a quick-prompt button</a:t>
            </a:r>
          </a:p>
        </p:txBody>
      </p:sp>
      <p:sp>
        <p:nvSpPr>
          <p:cNvPr id="12" name="Rectangle 11"/>
          <p:cNvSpPr/>
          <p:nvPr/>
        </p:nvSpPr>
        <p:spPr>
          <a:xfrm>
            <a:off x="3429000" y="1828800"/>
            <a:ext cx="26517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9000" y="182880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2011680"/>
            <a:ext cx="2377440" cy="457200"/>
          </a:xfrm>
          <a:prstGeom prst="rect">
            <a:avLst/>
          </a:prstGeom>
          <a:noFill/>
        </p:spPr>
        <p:txBody>
          <a:bodyPr wrap="square" anchor="t">
            <a:spAutoFit/>
          </a:bodyPr>
          <a:lstStyle/>
          <a:p>
            <a:pPr algn="l"/>
            <a:r>
              <a:rPr sz="1600" b="1">
                <a:solidFill>
                  <a:srgbClr val="142B45"/>
                </a:solidFill>
                <a:latin typeface="Calibri"/>
              </a:rPr>
              <a:t>UI picks a tool</a:t>
            </a:r>
          </a:p>
        </p:txBody>
      </p:sp>
      <p:sp>
        <p:nvSpPr>
          <p:cNvPr id="15" name="TextBox 14"/>
          <p:cNvSpPr txBox="1"/>
          <p:nvPr/>
        </p:nvSpPr>
        <p:spPr>
          <a:xfrm>
            <a:off x="3566160" y="2606040"/>
            <a:ext cx="2377440" cy="1280160"/>
          </a:xfrm>
          <a:prstGeom prst="rect">
            <a:avLst/>
          </a:prstGeom>
          <a:noFill/>
        </p:spPr>
        <p:txBody>
          <a:bodyPr wrap="square" anchor="t">
            <a:spAutoFit/>
          </a:bodyPr>
          <a:lstStyle/>
          <a:p>
            <a:pPr algn="l"/>
            <a:r>
              <a:rPr sz="1300" b="0">
                <a:solidFill>
                  <a:srgbClr val="222B35"/>
                </a:solidFill>
                <a:latin typeface="Calibri"/>
              </a:rPr>
              <a:t>processSofiaQuery maps the question to rooms_breaching_sla, housekeeper_load and so on</a:t>
            </a:r>
          </a:p>
        </p:txBody>
      </p:sp>
      <p:sp>
        <p:nvSpPr>
          <p:cNvPr id="16" name="Rectangle 15"/>
          <p:cNvSpPr/>
          <p:nvPr/>
        </p:nvSpPr>
        <p:spPr>
          <a:xfrm>
            <a:off x="6309359" y="1828800"/>
            <a:ext cx="26517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59" y="182880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011680"/>
            <a:ext cx="2377440" cy="457200"/>
          </a:xfrm>
          <a:prstGeom prst="rect">
            <a:avLst/>
          </a:prstGeom>
          <a:noFill/>
        </p:spPr>
        <p:txBody>
          <a:bodyPr wrap="square" anchor="t">
            <a:spAutoFit/>
          </a:bodyPr>
          <a:lstStyle/>
          <a:p>
            <a:pPr algn="l"/>
            <a:r>
              <a:rPr sz="1600" b="1">
                <a:solidFill>
                  <a:srgbClr val="142B45"/>
                </a:solidFill>
                <a:latin typeface="Calibri"/>
              </a:rPr>
              <a:t>callMcpTool</a:t>
            </a:r>
          </a:p>
        </p:txBody>
      </p:sp>
      <p:sp>
        <p:nvSpPr>
          <p:cNvPr id="19" name="TextBox 18"/>
          <p:cNvSpPr txBox="1"/>
          <p:nvPr/>
        </p:nvSpPr>
        <p:spPr>
          <a:xfrm>
            <a:off x="6446520" y="2606040"/>
            <a:ext cx="2377440" cy="1280160"/>
          </a:xfrm>
          <a:prstGeom prst="rect">
            <a:avLst/>
          </a:prstGeom>
          <a:noFill/>
        </p:spPr>
        <p:txBody>
          <a:bodyPr wrap="square" anchor="t">
            <a:spAutoFit/>
          </a:bodyPr>
          <a:lstStyle/>
          <a:p>
            <a:pPr algn="l"/>
            <a:r>
              <a:rPr sz="1300" b="0">
                <a:solidFill>
                  <a:srgbClr val="222B35"/>
                </a:solidFill>
                <a:latin typeface="Calibri"/>
              </a:rPr>
              <a:t>src/api/mcp.ts posts { tool, arguments }</a:t>
            </a:r>
          </a:p>
        </p:txBody>
      </p:sp>
      <p:sp>
        <p:nvSpPr>
          <p:cNvPr id="20" name="Rectangle 19"/>
          <p:cNvSpPr/>
          <p:nvPr/>
        </p:nvSpPr>
        <p:spPr>
          <a:xfrm>
            <a:off x="9189719" y="1828800"/>
            <a:ext cx="26517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89719" y="1828800"/>
            <a:ext cx="2651760" cy="73152"/>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0" y="2011680"/>
            <a:ext cx="2377440" cy="457200"/>
          </a:xfrm>
          <a:prstGeom prst="rect">
            <a:avLst/>
          </a:prstGeom>
          <a:noFill/>
        </p:spPr>
        <p:txBody>
          <a:bodyPr wrap="square" anchor="t">
            <a:spAutoFit/>
          </a:bodyPr>
          <a:lstStyle/>
          <a:p>
            <a:pPr algn="l"/>
            <a:r>
              <a:rPr sz="1600" b="1">
                <a:solidFill>
                  <a:srgbClr val="142B45"/>
                </a:solidFill>
                <a:latin typeface="Calibri"/>
              </a:rPr>
              <a:t>Answer shown</a:t>
            </a:r>
          </a:p>
        </p:txBody>
      </p:sp>
      <p:sp>
        <p:nvSpPr>
          <p:cNvPr id="23" name="TextBox 22"/>
          <p:cNvSpPr txBox="1"/>
          <p:nvPr/>
        </p:nvSpPr>
        <p:spPr>
          <a:xfrm>
            <a:off x="9326880" y="2606040"/>
            <a:ext cx="2377440" cy="1280160"/>
          </a:xfrm>
          <a:prstGeom prst="rect">
            <a:avLst/>
          </a:prstGeom>
          <a:noFill/>
        </p:spPr>
        <p:txBody>
          <a:bodyPr wrap="square" anchor="t">
            <a:spAutoFit/>
          </a:bodyPr>
          <a:lstStyle/>
          <a:p>
            <a:pPr algn="l"/>
            <a:r>
              <a:rPr sz="1300" b="0">
                <a:solidFill>
                  <a:srgbClr val="222B35"/>
                </a:solidFill>
                <a:latin typeface="Calibri"/>
              </a:rPr>
              <a:t>Formatted result in the chat, for the chosen hotel</a:t>
            </a:r>
          </a:p>
        </p:txBody>
      </p:sp>
      <p:sp>
        <p:nvSpPr>
          <p:cNvPr id="24" name="Rectangle 23"/>
          <p:cNvSpPr/>
          <p:nvPr/>
        </p:nvSpPr>
        <p:spPr>
          <a:xfrm>
            <a:off x="548640" y="4206240"/>
            <a:ext cx="548640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206240"/>
            <a:ext cx="82296" cy="201168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297679"/>
            <a:ext cx="5120640" cy="457200"/>
          </a:xfrm>
          <a:prstGeom prst="rect">
            <a:avLst/>
          </a:prstGeom>
          <a:noFill/>
        </p:spPr>
        <p:txBody>
          <a:bodyPr wrap="square" anchor="t">
            <a:spAutoFit/>
          </a:bodyPr>
          <a:lstStyle/>
          <a:p>
            <a:pPr algn="l"/>
            <a:r>
              <a:rPr sz="1700" b="1">
                <a:solidFill>
                  <a:srgbClr val="142B45"/>
                </a:solidFill>
                <a:latin typeface="Calibri"/>
              </a:rPr>
              <a:t>Quick prompts on the page</a:t>
            </a:r>
          </a:p>
        </p:txBody>
      </p:sp>
      <p:sp>
        <p:nvSpPr>
          <p:cNvPr id="27" name="TextBox 26"/>
          <p:cNvSpPr txBox="1"/>
          <p:nvPr/>
        </p:nvSpPr>
        <p:spPr>
          <a:xfrm>
            <a:off x="777240" y="4773168"/>
            <a:ext cx="5120640" cy="1371600"/>
          </a:xfrm>
          <a:prstGeom prst="rect">
            <a:avLst/>
          </a:prstGeom>
          <a:noFill/>
        </p:spPr>
        <p:txBody>
          <a:bodyPr wrap="square" anchor="t">
            <a:spAutoFit/>
          </a:bodyPr>
          <a:lstStyle/>
          <a:p>
            <a:pPr algn="l"/>
            <a:r>
              <a:rPr sz="1300" b="0">
                <a:solidFill>
                  <a:srgbClr val="222B35"/>
                </a:solidFill>
                <a:latin typeface="Calibri"/>
              </a:rPr>
              <a:t>Check room status; Arrivals without ready room; Late rooms (SLA breaches); Housekeeper workload; Out-of-order impact. Tool names are typed in src/api/types.ts as McpToolName.</a:t>
            </a:r>
          </a:p>
        </p:txBody>
      </p:sp>
      <p:sp>
        <p:nvSpPr>
          <p:cNvPr id="28" name="Rectangle 27"/>
          <p:cNvSpPr/>
          <p:nvPr/>
        </p:nvSpPr>
        <p:spPr>
          <a:xfrm>
            <a:off x="6309360" y="4206240"/>
            <a:ext cx="5303520" cy="201168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4206240"/>
            <a:ext cx="82296" cy="2011680"/>
          </a:xfrm>
          <a:prstGeom prst="rect">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4297679"/>
            <a:ext cx="4937759" cy="457200"/>
          </a:xfrm>
          <a:prstGeom prst="rect">
            <a:avLst/>
          </a:prstGeom>
          <a:noFill/>
        </p:spPr>
        <p:txBody>
          <a:bodyPr wrap="square" anchor="t">
            <a:spAutoFit/>
          </a:bodyPr>
          <a:lstStyle/>
          <a:p>
            <a:pPr algn="l"/>
            <a:r>
              <a:rPr sz="1700" b="1">
                <a:solidFill>
                  <a:srgbClr val="142B45"/>
                </a:solidFill>
                <a:latin typeface="Calibri"/>
              </a:rPr>
              <a:t>Honest status</a:t>
            </a:r>
          </a:p>
        </p:txBody>
      </p:sp>
      <p:sp>
        <p:nvSpPr>
          <p:cNvPr id="31" name="TextBox 30"/>
          <p:cNvSpPr txBox="1"/>
          <p:nvPr/>
        </p:nvSpPr>
        <p:spPr>
          <a:xfrm>
            <a:off x="6537960" y="4773168"/>
            <a:ext cx="4937759" cy="1371600"/>
          </a:xfrm>
          <a:prstGeom prst="rect">
            <a:avLst/>
          </a:prstGeom>
          <a:noFill/>
        </p:spPr>
        <p:txBody>
          <a:bodyPr wrap="square" anchor="t">
            <a:spAutoFit/>
          </a:bodyPr>
          <a:lstStyle/>
          <a:p>
            <a:pPr algn="l"/>
            <a:r>
              <a:rPr sz="1300" b="0">
                <a:solidFill>
                  <a:srgbClr val="222B35"/>
                </a:solidFill>
                <a:latin typeface="Calibri"/>
              </a:rPr>
              <a:t>The chat posts to /api/mcp/tool, but Larchmont.Api has no such route yet, so the UI falls back to the same data through the REST endpoints (board, late rooms, floors, bookings). The MCP server itself runs separately over stdio for AI hosts.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What MCP gave us</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Sofia can ask in plain words; the data stays safe</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13</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35661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82296" cy="210312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3200400" cy="457200"/>
          </a:xfrm>
          <a:prstGeom prst="rect">
            <a:avLst/>
          </a:prstGeom>
          <a:noFill/>
        </p:spPr>
        <p:txBody>
          <a:bodyPr wrap="square" anchor="t">
            <a:spAutoFit/>
          </a:bodyPr>
          <a:lstStyle/>
          <a:p>
            <a:pPr algn="l"/>
            <a:r>
              <a:rPr sz="1700" b="1">
                <a:solidFill>
                  <a:srgbClr val="142B45"/>
                </a:solidFill>
                <a:latin typeface="Calibri"/>
              </a:rPr>
              <a:t>Ask, do not browse</a:t>
            </a:r>
          </a:p>
        </p:txBody>
      </p:sp>
      <p:sp>
        <p:nvSpPr>
          <p:cNvPr id="11" name="TextBox 10"/>
          <p:cNvSpPr txBox="1"/>
          <p:nvPr/>
        </p:nvSpPr>
        <p:spPr>
          <a:xfrm>
            <a:off x="777240" y="2395728"/>
            <a:ext cx="3200400" cy="1463039"/>
          </a:xfrm>
          <a:prstGeom prst="rect">
            <a:avLst/>
          </a:prstGeom>
          <a:noFill/>
        </p:spPr>
        <p:txBody>
          <a:bodyPr wrap="square" anchor="t">
            <a:spAutoFit/>
          </a:bodyPr>
          <a:lstStyle/>
          <a:p>
            <a:pPr algn="l"/>
            <a:r>
              <a:rPr sz="1400" b="0">
                <a:solidFill>
                  <a:srgbClr val="222B35"/>
                </a:solidFill>
                <a:latin typeface="Calibri"/>
              </a:rPr>
              <a:t>Morning questions such as "who is behind on floor 3?" answered in one step instead of opening four screens.</a:t>
            </a:r>
          </a:p>
        </p:txBody>
      </p:sp>
      <p:sp>
        <p:nvSpPr>
          <p:cNvPr id="12" name="Rectangle 11"/>
          <p:cNvSpPr/>
          <p:nvPr/>
        </p:nvSpPr>
        <p:spPr>
          <a:xfrm>
            <a:off x="4297680" y="1828800"/>
            <a:ext cx="35661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828800"/>
            <a:ext cx="82296" cy="210312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920240"/>
            <a:ext cx="3200400" cy="457200"/>
          </a:xfrm>
          <a:prstGeom prst="rect">
            <a:avLst/>
          </a:prstGeom>
          <a:noFill/>
        </p:spPr>
        <p:txBody>
          <a:bodyPr wrap="square" anchor="t">
            <a:spAutoFit/>
          </a:bodyPr>
          <a:lstStyle/>
          <a:p>
            <a:pPr algn="l"/>
            <a:r>
              <a:rPr sz="1700" b="1">
                <a:solidFill>
                  <a:srgbClr val="142B45"/>
                </a:solidFill>
                <a:latin typeface="Calibri"/>
              </a:rPr>
              <a:t>Same data, two doors</a:t>
            </a:r>
          </a:p>
        </p:txBody>
      </p:sp>
      <p:sp>
        <p:nvSpPr>
          <p:cNvPr id="15" name="TextBox 14"/>
          <p:cNvSpPr txBox="1"/>
          <p:nvPr/>
        </p:nvSpPr>
        <p:spPr>
          <a:xfrm>
            <a:off x="4526280" y="2395728"/>
            <a:ext cx="3200400" cy="1463039"/>
          </a:xfrm>
          <a:prstGeom prst="rect">
            <a:avLst/>
          </a:prstGeom>
          <a:noFill/>
        </p:spPr>
        <p:txBody>
          <a:bodyPr wrap="square" anchor="t">
            <a:spAutoFit/>
          </a:bodyPr>
          <a:lstStyle/>
          <a:p>
            <a:pPr algn="l"/>
            <a:r>
              <a:rPr sz="1400" b="0">
                <a:solidFill>
                  <a:srgbClr val="222B35"/>
                </a:solidFill>
                <a:latin typeface="Calibri"/>
              </a:rPr>
              <a:t>The SLA breach screen and the rooms_breaching_sla tool describe the same breaches, so the numbers should agree.</a:t>
            </a:r>
          </a:p>
        </p:txBody>
      </p:sp>
      <p:sp>
        <p:nvSpPr>
          <p:cNvPr id="16" name="Rectangle 15"/>
          <p:cNvSpPr/>
          <p:nvPr/>
        </p:nvSpPr>
        <p:spPr>
          <a:xfrm>
            <a:off x="8046720" y="1828800"/>
            <a:ext cx="3566160" cy="210312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828800"/>
            <a:ext cx="82296" cy="210312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920240"/>
            <a:ext cx="3200400" cy="457200"/>
          </a:xfrm>
          <a:prstGeom prst="rect">
            <a:avLst/>
          </a:prstGeom>
          <a:noFill/>
        </p:spPr>
        <p:txBody>
          <a:bodyPr wrap="square" anchor="t">
            <a:spAutoFit/>
          </a:bodyPr>
          <a:lstStyle/>
          <a:p>
            <a:pPr algn="l"/>
            <a:r>
              <a:rPr sz="1700" b="1">
                <a:solidFill>
                  <a:srgbClr val="142B45"/>
                </a:solidFill>
                <a:latin typeface="Calibri"/>
              </a:rPr>
              <a:t>Safe by default</a:t>
            </a:r>
          </a:p>
        </p:txBody>
      </p:sp>
      <p:sp>
        <p:nvSpPr>
          <p:cNvPr id="19" name="TextBox 18"/>
          <p:cNvSpPr txBox="1"/>
          <p:nvPr/>
        </p:nvSpPr>
        <p:spPr>
          <a:xfrm>
            <a:off x="8275320" y="2395728"/>
            <a:ext cx="3200400" cy="1463039"/>
          </a:xfrm>
          <a:prstGeom prst="rect">
            <a:avLst/>
          </a:prstGeom>
          <a:noFill/>
        </p:spPr>
        <p:txBody>
          <a:bodyPr wrap="square" anchor="t">
            <a:spAutoFit/>
          </a:bodyPr>
          <a:lstStyle/>
          <a:p>
            <a:pPr algn="l"/>
            <a:r>
              <a:rPr sz="1400" b="0">
                <a:solidFill>
                  <a:srgbClr val="222B35"/>
                </a:solidFill>
                <a:latin typeface="Calibri"/>
              </a:rPr>
              <a:t>Even a hijacked client can only SELECT five views with no guest PII. The audit log shows what was asked.</a:t>
            </a:r>
          </a:p>
        </p:txBody>
      </p:sp>
      <p:sp>
        <p:nvSpPr>
          <p:cNvPr id="20" name="TextBox 19"/>
          <p:cNvSpPr txBox="1"/>
          <p:nvPr/>
        </p:nvSpPr>
        <p:spPr>
          <a:xfrm>
            <a:off x="548640" y="4297680"/>
            <a:ext cx="10972800" cy="457200"/>
          </a:xfrm>
          <a:prstGeom prst="rect">
            <a:avLst/>
          </a:prstGeom>
          <a:noFill/>
        </p:spPr>
        <p:txBody>
          <a:bodyPr wrap="square" anchor="t">
            <a:spAutoFit/>
          </a:bodyPr>
          <a:lstStyle/>
          <a:p>
            <a:pPr algn="l"/>
            <a:r>
              <a:rPr sz="2000" b="1">
                <a:solidFill>
                  <a:srgbClr val="142B45"/>
                </a:solidFill>
                <a:latin typeface="Calibri"/>
              </a:rPr>
              <a:t>Testing</a:t>
            </a:r>
          </a:p>
        </p:txBody>
      </p:sp>
      <p:sp>
        <p:nvSpPr>
          <p:cNvPr id="21" name="TextBox 20"/>
          <p:cNvSpPr txBox="1"/>
          <p:nvPr/>
        </p:nvSpPr>
        <p:spPr>
          <a:xfrm>
            <a:off x="548640" y="4754880"/>
            <a:ext cx="10972800" cy="1463040"/>
          </a:xfrm>
          <a:prstGeom prst="rect">
            <a:avLst/>
          </a:prstGeom>
          <a:noFill/>
        </p:spPr>
        <p:txBody>
          <a:bodyPr wrap="square">
            <a:spAutoFit/>
          </a:bodyPr>
          <a:lstStyle/>
          <a:p>
            <a:pPr>
              <a:spcAft>
                <a:spcPts val="800"/>
              </a:spcAft>
            </a:pPr>
            <a:r>
              <a:rPr sz="1500">
                <a:solidFill>
                  <a:srgbClr val="222B35"/>
                </a:solidFill>
                <a:latin typeface="Calibri"/>
              </a:rPr>
              <a:t>•  mcp/tests: guard.test.ts and server.test.ts written test-first, named AC_NN (red run recorded in RED-RUN.txt)</a:t>
            </a:r>
          </a:p>
          <a:p>
            <a:pPr>
              <a:spcAft>
                <a:spcPts val="800"/>
              </a:spcAft>
            </a:pPr>
            <a:r>
              <a:rPr sz="1500">
                <a:solidFill>
                  <a:srgbClr val="222B35"/>
                </a:solidFill>
                <a:latin typeface="Calibri"/>
              </a:rPr>
              <a:t>•  Real-MySQL checks live in tests/mysql, because in-memory tests cannot prove SQL translation, grants or limits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42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731520"/>
          </a:xfrm>
          <a:prstGeom prst="rect">
            <a:avLst/>
          </a:prstGeom>
          <a:noFill/>
        </p:spPr>
        <p:txBody>
          <a:bodyPr wrap="square" anchor="ctr">
            <a:spAutoFit/>
          </a:bodyPr>
          <a:lstStyle/>
          <a:p>
            <a:pPr algn="l"/>
            <a:r>
              <a:rPr sz="3000" b="1">
                <a:solidFill>
                  <a:srgbClr val="FFFFFF"/>
                </a:solidFill>
                <a:latin typeface="Calibri"/>
              </a:rPr>
              <a:t>Status and next steps</a:t>
            </a:r>
          </a:p>
        </p:txBody>
      </p:sp>
      <p:sp>
        <p:nvSpPr>
          <p:cNvPr id="5" name="TextBox 4"/>
          <p:cNvSpPr txBox="1"/>
          <p:nvPr/>
        </p:nvSpPr>
        <p:spPr>
          <a:xfrm>
            <a:off x="548640" y="1280160"/>
            <a:ext cx="10972800" cy="457200"/>
          </a:xfrm>
          <a:prstGeom prst="rect">
            <a:avLst/>
          </a:prstGeom>
          <a:noFill/>
        </p:spPr>
        <p:txBody>
          <a:bodyPr wrap="square" anchor="t">
            <a:spAutoFit/>
          </a:bodyPr>
          <a:lstStyle/>
          <a:p>
            <a:pPr algn="l"/>
            <a:r>
              <a:rPr sz="1600" b="0">
                <a:solidFill>
                  <a:srgbClr val="6B7785"/>
                </a:solidFill>
                <a:latin typeface="Calibri"/>
              </a:rPr>
              <a:t>From DELIVERABLES.md and the code as it stands today</a:t>
            </a:r>
          </a:p>
        </p:txBody>
      </p:sp>
      <p:sp>
        <p:nvSpPr>
          <p:cNvPr id="6" name="TextBox 5"/>
          <p:cNvSpPr txBox="1"/>
          <p:nvPr/>
        </p:nvSpPr>
        <p:spPr>
          <a:xfrm>
            <a:off x="11155680" y="6400800"/>
            <a:ext cx="914400" cy="365760"/>
          </a:xfrm>
          <a:prstGeom prst="rect">
            <a:avLst/>
          </a:prstGeom>
          <a:noFill/>
        </p:spPr>
        <p:txBody>
          <a:bodyPr wrap="square" anchor="t">
            <a:spAutoFit/>
          </a:bodyPr>
          <a:lstStyle/>
          <a:p>
            <a:pPr algn="r"/>
            <a:r>
              <a:rPr sz="1100" b="0">
                <a:solidFill>
                  <a:srgbClr val="6B7785"/>
                </a:solidFill>
                <a:latin typeface="Calibri"/>
              </a:rPr>
              <a:t>14</a:t>
            </a:r>
          </a:p>
        </p:txBody>
      </p:sp>
      <p:sp>
        <p:nvSpPr>
          <p:cNvPr id="7" name="TextBox 6"/>
          <p:cNvSpPr txBox="1"/>
          <p:nvPr/>
        </p:nvSpPr>
        <p:spPr>
          <a:xfrm>
            <a:off x="548640" y="6400800"/>
            <a:ext cx="7315200" cy="365760"/>
          </a:xfrm>
          <a:prstGeom prst="rect">
            <a:avLst/>
          </a:prstGeom>
          <a:noFill/>
        </p:spPr>
        <p:txBody>
          <a:bodyPr wrap="square" anchor="t">
            <a:spAutoFit/>
          </a:bodyPr>
          <a:lstStyle/>
          <a:p>
            <a:pPr algn="l"/>
            <a:r>
              <a:rPr sz="1100" b="0">
                <a:solidFill>
                  <a:srgbClr val="6B7785"/>
                </a:solidFill>
                <a:latin typeface="Calibri"/>
              </a:rPr>
              <a:t>Larchmont Hotels  |  Housekeeping board UI</a:t>
            </a:r>
          </a:p>
        </p:txBody>
      </p:sp>
      <p:sp>
        <p:nvSpPr>
          <p:cNvPr id="8" name="Rectangle 7"/>
          <p:cNvSpPr/>
          <p:nvPr/>
        </p:nvSpPr>
        <p:spPr>
          <a:xfrm>
            <a:off x="548640" y="1828800"/>
            <a:ext cx="5394960" cy="274320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828800"/>
            <a:ext cx="82296" cy="2743200"/>
          </a:xfrm>
          <a:prstGeom prst="rect">
            <a:avLst/>
          </a:prstGeom>
          <a:solidFill>
            <a:srgbClr val="1F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920240"/>
            <a:ext cx="5029200" cy="457200"/>
          </a:xfrm>
          <a:prstGeom prst="rect">
            <a:avLst/>
          </a:prstGeom>
          <a:noFill/>
        </p:spPr>
        <p:txBody>
          <a:bodyPr wrap="square" anchor="t">
            <a:spAutoFit/>
          </a:bodyPr>
          <a:lstStyle/>
          <a:p>
            <a:pPr algn="l"/>
            <a:r>
              <a:rPr sz="1700" b="1">
                <a:solidFill>
                  <a:srgbClr val="142B45"/>
                </a:solidFill>
                <a:latin typeface="Calibri"/>
              </a:rPr>
              <a:t>In place</a:t>
            </a:r>
          </a:p>
        </p:txBody>
      </p:sp>
      <p:sp>
        <p:nvSpPr>
          <p:cNvPr id="11" name="TextBox 10"/>
          <p:cNvSpPr txBox="1"/>
          <p:nvPr/>
        </p:nvSpPr>
        <p:spPr>
          <a:xfrm>
            <a:off x="777240" y="2395728"/>
            <a:ext cx="5029200" cy="2103120"/>
          </a:xfrm>
          <a:prstGeom prst="rect">
            <a:avLst/>
          </a:prstGeom>
          <a:noFill/>
        </p:spPr>
        <p:txBody>
          <a:bodyPr wrap="square" anchor="t">
            <a:spAutoFit/>
          </a:bodyPr>
          <a:lstStyle/>
          <a:p>
            <a:pPr algn="l"/>
            <a:r>
              <a:rPr sz="1400" b="0">
                <a:solidFill>
                  <a:srgbClr val="222B35"/>
                </a:solidFill>
                <a:latin typeface="Calibri"/>
              </a:rPr>
              <a:t>SLA breach screen with loading, empty and error states; Room types screen; board, floor assignment and ready-by pages; Assistant page; MCP server with five tools and a security note.</a:t>
            </a:r>
          </a:p>
        </p:txBody>
      </p:sp>
      <p:sp>
        <p:nvSpPr>
          <p:cNvPr id="12" name="Rectangle 11"/>
          <p:cNvSpPr/>
          <p:nvPr/>
        </p:nvSpPr>
        <p:spPr>
          <a:xfrm>
            <a:off x="6217920" y="1828800"/>
            <a:ext cx="5394960" cy="3291840"/>
          </a:xfrm>
          <a:prstGeom prst="rect">
            <a:avLst/>
          </a:prstGeom>
          <a:solidFill>
            <a:srgbClr val="F3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828800"/>
            <a:ext cx="82296" cy="3291840"/>
          </a:xfrm>
          <a:prstGeom prst="rect">
            <a:avLst/>
          </a:prstGeom>
          <a:solidFill>
            <a:srgbClr val="D98E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920240"/>
            <a:ext cx="5029200" cy="457200"/>
          </a:xfrm>
          <a:prstGeom prst="rect">
            <a:avLst/>
          </a:prstGeom>
          <a:noFill/>
        </p:spPr>
        <p:txBody>
          <a:bodyPr wrap="square" anchor="t">
            <a:spAutoFit/>
          </a:bodyPr>
          <a:lstStyle/>
          <a:p>
            <a:pPr algn="l"/>
            <a:r>
              <a:rPr sz="1700" b="1">
                <a:solidFill>
                  <a:srgbClr val="142B45"/>
                </a:solidFill>
                <a:latin typeface="Calibri"/>
              </a:rPr>
              <a:t>Still open</a:t>
            </a:r>
          </a:p>
        </p:txBody>
      </p:sp>
      <p:sp>
        <p:nvSpPr>
          <p:cNvPr id="15" name="TextBox 14"/>
          <p:cNvSpPr txBox="1"/>
          <p:nvPr/>
        </p:nvSpPr>
        <p:spPr>
          <a:xfrm>
            <a:off x="6446520" y="2395728"/>
            <a:ext cx="5029200" cy="2651760"/>
          </a:xfrm>
          <a:prstGeom prst="rect">
            <a:avLst/>
          </a:prstGeom>
          <a:noFill/>
        </p:spPr>
        <p:txBody>
          <a:bodyPr wrap="square">
            <a:spAutoFit/>
          </a:bodyPr>
          <a:lstStyle/>
          <a:p>
            <a:pPr>
              <a:spcAft>
                <a:spcPts val="400"/>
              </a:spcAft>
            </a:pPr>
            <a:r>
              <a:rPr sz="1300">
                <a:solidFill>
                  <a:srgbClr val="222B35"/>
                </a:solidFill>
                <a:latin typeface="Calibri"/>
              </a:rPr>
              <a:t>•  Backend /api/mcp/tool route, so the chat uses the MCP path instead of the REST fallback</a:t>
            </a:r>
          </a:p>
          <a:p>
            <a:pPr>
              <a:spcAft>
                <a:spcPts val="400"/>
              </a:spcAft>
            </a:pPr>
            <a:r>
              <a:rPr sz="1300">
                <a:solidFill>
                  <a:srgbClr val="222B35"/>
                </a:solidFill>
                <a:latin typeface="Calibri"/>
              </a:rPr>
              <a:t>•  Tick off the remaining board deliverables (state rules, ready-by, floor checks)</a:t>
            </a:r>
          </a:p>
          <a:p>
            <a:pPr>
              <a:spcAft>
                <a:spcPts val="400"/>
              </a:spcAft>
            </a:pPr>
            <a:r>
              <a:rPr sz="1300">
                <a:solidFill>
                  <a:srgbClr val="222B35"/>
                </a:solidFill>
                <a:latin typeface="Calibri"/>
              </a:rPr>
              <a:t>•  Confirm the 75 minute targets and who may edit them</a:t>
            </a:r>
          </a:p>
          <a:p>
            <a:pPr>
              <a:spcAft>
                <a:spcPts val="400"/>
              </a:spcAft>
            </a:pPr>
            <a:r>
              <a:rPr sz="1300">
                <a:solidFill>
                  <a:srgbClr val="222B35"/>
                </a:solidFill>
                <a:latin typeface="Calibri"/>
              </a:rPr>
              <a:t>•  Narrow the mcp_readonly host from % in production</a:t>
            </a:r>
          </a:p>
          <a:p>
            <a:pPr>
              <a:spcAft>
                <a:spcPts val="400"/>
              </a:spcAft>
            </a:pPr>
            <a:r>
              <a:rPr sz="1300">
                <a:solidFill>
                  <a:srgbClr val="222B35"/>
                </a:solidFill>
                <a:latin typeface="Calibri"/>
              </a:rPr>
              <a:t>•  Move the MCP password out of .mcp.json into an environment variable</a:t>
            </a:r>
          </a:p>
        </p:txBody>
      </p:sp>
      <p:sp>
        <p:nvSpPr>
          <p:cNvPr id="16" name="TextBox 15"/>
          <p:cNvSpPr txBox="1"/>
          <p:nvPr/>
        </p:nvSpPr>
        <p:spPr>
          <a:xfrm>
            <a:off x="548640" y="5029200"/>
            <a:ext cx="5394960" cy="914400"/>
          </a:xfrm>
          <a:prstGeom prst="rect">
            <a:avLst/>
          </a:prstGeom>
          <a:noFill/>
        </p:spPr>
        <p:txBody>
          <a:bodyPr wrap="square" anchor="t">
            <a:spAutoFit/>
          </a:bodyPr>
          <a:lstStyle/>
          <a:p>
            <a:pPr algn="l"/>
            <a:r>
              <a:rPr sz="3200" b="1">
                <a:solidFill>
                  <a:srgbClr val="142B45"/>
                </a:solidFill>
                <a:latin typeface="Calibri"/>
              </a:rPr>
              <a:t>Thank you.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